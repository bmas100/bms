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2" r:id="rId5"/>
    <p:sldId id="264" r:id="rId6"/>
    <p:sldId id="265" r:id="rId7"/>
    <p:sldId id="263" r:id="rId8"/>
    <p:sldId id="272" r:id="rId9"/>
    <p:sldId id="279" r:id="rId10"/>
    <p:sldId id="274" r:id="rId11"/>
    <p:sldId id="268" r:id="rId12"/>
    <p:sldId id="278" r:id="rId13"/>
    <p:sldId id="275" r:id="rId14"/>
    <p:sldId id="27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ostami\Desktop\&#1576;&#1585;&#1606;&#1575;&#1605;&#1607;%20&#1575;&#1587;&#1578;&#1580;&#1575;&#1585;-&#1585;&#1587;&#1578;&#1605;&#174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4"/>
                </a:gs>
                <a:gs pos="100000">
                  <a:schemeClr val="accent4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'Sheet1 (2)'!$C$5:$C$35</c:f>
              <c:strCache>
                <c:ptCount val="31"/>
                <c:pt idx="0">
                  <c:v>خراسان رضوی</c:v>
                </c:pt>
                <c:pt idx="1">
                  <c:v>فارس</c:v>
                </c:pt>
                <c:pt idx="2">
                  <c:v>سیستان وبلوچستان</c:v>
                </c:pt>
                <c:pt idx="3">
                  <c:v>اصفهان</c:v>
                </c:pt>
                <c:pt idx="4">
                  <c:v>آذربایجان غربی</c:v>
                </c:pt>
                <c:pt idx="5">
                  <c:v>آذربایجان شرقی</c:v>
                </c:pt>
                <c:pt idx="6">
                  <c:v>کرمان</c:v>
                </c:pt>
                <c:pt idx="7">
                  <c:v>مازندران</c:v>
                </c:pt>
                <c:pt idx="8">
                  <c:v>خراسان جنوبی</c:v>
                </c:pt>
                <c:pt idx="9">
                  <c:v>خوزستان</c:v>
                </c:pt>
                <c:pt idx="10">
                  <c:v>همدان</c:v>
                </c:pt>
                <c:pt idx="11">
                  <c:v>خراسان شمالی</c:v>
                </c:pt>
                <c:pt idx="12">
                  <c:v>بوشهر</c:v>
                </c:pt>
                <c:pt idx="13">
                  <c:v>هرمزگان</c:v>
                </c:pt>
                <c:pt idx="14">
                  <c:v>گیلان</c:v>
                </c:pt>
                <c:pt idx="15">
                  <c:v>گلستان</c:v>
                </c:pt>
                <c:pt idx="16">
                  <c:v>لرستان</c:v>
                </c:pt>
                <c:pt idx="17">
                  <c:v>زنجان</c:v>
                </c:pt>
                <c:pt idx="18">
                  <c:v>اردبیل</c:v>
                </c:pt>
                <c:pt idx="19">
                  <c:v>کردستان</c:v>
                </c:pt>
                <c:pt idx="20">
                  <c:v>ایلام</c:v>
                </c:pt>
                <c:pt idx="21">
                  <c:v>چهارمحال وبختیاری</c:v>
                </c:pt>
                <c:pt idx="22">
                  <c:v>یزد</c:v>
                </c:pt>
                <c:pt idx="23">
                  <c:v>قزوین</c:v>
                </c:pt>
                <c:pt idx="24">
                  <c:v>کهگیلویه وبویراحمد</c:v>
                </c:pt>
                <c:pt idx="25">
                  <c:v>مرکزی</c:v>
                </c:pt>
                <c:pt idx="26">
                  <c:v>کرمانشاه</c:v>
                </c:pt>
                <c:pt idx="27">
                  <c:v>تهران</c:v>
                </c:pt>
                <c:pt idx="28">
                  <c:v>سمنان</c:v>
                </c:pt>
                <c:pt idx="29">
                  <c:v>قم</c:v>
                </c:pt>
                <c:pt idx="30">
                  <c:v>البرز</c:v>
                </c:pt>
              </c:strCache>
            </c:strRef>
          </c:cat>
          <c:val>
            <c:numRef>
              <c:f>'Sheet1 (2)'!$D$5:$D$35</c:f>
              <c:numCache>
                <c:formatCode>General</c:formatCode>
                <c:ptCount val="31"/>
                <c:pt idx="0">
                  <c:v>16332</c:v>
                </c:pt>
                <c:pt idx="1">
                  <c:v>14813</c:v>
                </c:pt>
                <c:pt idx="2">
                  <c:v>13749</c:v>
                </c:pt>
                <c:pt idx="3">
                  <c:v>12349</c:v>
                </c:pt>
                <c:pt idx="4">
                  <c:v>11512</c:v>
                </c:pt>
                <c:pt idx="5">
                  <c:v>10855</c:v>
                </c:pt>
                <c:pt idx="6">
                  <c:v>10646</c:v>
                </c:pt>
                <c:pt idx="7">
                  <c:v>9376</c:v>
                </c:pt>
                <c:pt idx="8">
                  <c:v>8662</c:v>
                </c:pt>
                <c:pt idx="9">
                  <c:v>8449</c:v>
                </c:pt>
                <c:pt idx="10">
                  <c:v>8123</c:v>
                </c:pt>
                <c:pt idx="11">
                  <c:v>7609</c:v>
                </c:pt>
                <c:pt idx="12">
                  <c:v>7144</c:v>
                </c:pt>
                <c:pt idx="13">
                  <c:v>6962</c:v>
                </c:pt>
                <c:pt idx="14">
                  <c:v>6937</c:v>
                </c:pt>
                <c:pt idx="15">
                  <c:v>6735</c:v>
                </c:pt>
                <c:pt idx="16">
                  <c:v>6082</c:v>
                </c:pt>
                <c:pt idx="17">
                  <c:v>6058</c:v>
                </c:pt>
                <c:pt idx="18">
                  <c:v>4956</c:v>
                </c:pt>
                <c:pt idx="19">
                  <c:v>4920</c:v>
                </c:pt>
                <c:pt idx="20">
                  <c:v>4298</c:v>
                </c:pt>
                <c:pt idx="21">
                  <c:v>4253</c:v>
                </c:pt>
                <c:pt idx="22">
                  <c:v>4192</c:v>
                </c:pt>
                <c:pt idx="23">
                  <c:v>4159</c:v>
                </c:pt>
                <c:pt idx="24">
                  <c:v>4096</c:v>
                </c:pt>
                <c:pt idx="25">
                  <c:v>3884</c:v>
                </c:pt>
                <c:pt idx="26">
                  <c:v>3679</c:v>
                </c:pt>
                <c:pt idx="27">
                  <c:v>2858</c:v>
                </c:pt>
                <c:pt idx="28">
                  <c:v>2642</c:v>
                </c:pt>
                <c:pt idx="29">
                  <c:v>1944</c:v>
                </c:pt>
                <c:pt idx="30">
                  <c:v>1726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B3-40F4-8BD7-C5499F2E1F3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404380992"/>
        <c:axId val="404383904"/>
      </c:barChart>
      <c:catAx>
        <c:axId val="404380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B Nazanin" panose="00000400000000000000" pitchFamily="2" charset="-78"/>
              </a:defRPr>
            </a:pPr>
            <a:endParaRPr lang="en-US"/>
          </a:p>
        </c:txPr>
        <c:crossAx val="404383904"/>
        <c:crosses val="autoZero"/>
        <c:auto val="1"/>
        <c:lblAlgn val="ctr"/>
        <c:lblOffset val="100"/>
        <c:noMultiLvlLbl val="0"/>
      </c:catAx>
      <c:valAx>
        <c:axId val="40438390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043809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50"/>
      <c:rotY val="36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0E19-4CDE-B53F-40626482814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0E19-4CDE-B53F-40626482814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0E19-4CDE-B53F-406264828141}"/>
              </c:ext>
            </c:extLst>
          </c:dPt>
          <c:dLbls>
            <c:dLbl>
              <c:idx val="1"/>
              <c:layout>
                <c:manualLayout>
                  <c:x val="2.3342675385915744E-2"/>
                  <c:y val="9.6245197094119259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0E19-4CDE-B53F-406264828141}"/>
                </c:ext>
              </c:extLst>
            </c:dLbl>
            <c:dLbl>
              <c:idx val="2"/>
              <c:layout>
                <c:manualLayout>
                  <c:x val="3.0566602903450629E-2"/>
                  <c:y val="8.8087943054576193E-2"/>
                </c:manualLayout>
              </c:layout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0E19-4CDE-B53F-406264828141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Sheet1!$B$14:$B$16</c:f>
              <c:strCache>
                <c:ptCount val="3"/>
                <c:pt idx="0">
                  <c:v>فردی</c:v>
                </c:pt>
                <c:pt idx="1">
                  <c:v> بنیاد ساخت</c:v>
                </c:pt>
                <c:pt idx="2">
                  <c:v>مجموعه سازی </c:v>
                </c:pt>
              </c:strCache>
            </c:strRef>
          </c:cat>
          <c:val>
            <c:numRef>
              <c:f>Sheet1!$C$14:$C$16</c:f>
              <c:numCache>
                <c:formatCode>0%</c:formatCode>
                <c:ptCount val="3"/>
                <c:pt idx="0">
                  <c:v>0.82</c:v>
                </c:pt>
                <c:pt idx="1">
                  <c:v>0.15</c:v>
                </c:pt>
                <c:pt idx="2">
                  <c:v>0.03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E19-4CDE-B53F-406264828141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1.5065913370998116E-2"/>
          <c:y val="0.36599030911495684"/>
          <c:w val="0.15244054022846007"/>
          <c:h val="0.247499354451884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B Nazanin" panose="00000400000000000000" pitchFamily="2" charset="-78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fa-IR" sz="1800" b="1" dirty="0">
                <a:solidFill>
                  <a:schemeClr val="tx1"/>
                </a:solidFill>
                <a:cs typeface="B Roya" panose="00000400000000000000" pitchFamily="2" charset="-78"/>
              </a:rPr>
              <a:t>سهمیه در نظر گرفته شده برای سال نخست</a:t>
            </a:r>
            <a:endParaRPr lang="en-US" sz="1800" b="1" dirty="0">
              <a:solidFill>
                <a:schemeClr val="tx1"/>
              </a:solidFill>
              <a:cs typeface="B Roya" panose="00000400000000000000" pitchFamily="2" charset="-78"/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Sheet2!$L$7:$L$37</c:f>
              <c:strCache>
                <c:ptCount val="31"/>
                <c:pt idx="0">
                  <c:v>آذربایجان شرقی </c:v>
                </c:pt>
                <c:pt idx="1">
                  <c:v>اصفهان </c:v>
                </c:pt>
                <c:pt idx="2">
                  <c:v>تهران </c:v>
                </c:pt>
                <c:pt idx="3">
                  <c:v>خراسان رضوی </c:v>
                </c:pt>
                <c:pt idx="4">
                  <c:v>سیستان وبلوچستان </c:v>
                </c:pt>
                <c:pt idx="5">
                  <c:v>فارس </c:v>
                </c:pt>
                <c:pt idx="6">
                  <c:v>خوزستان </c:v>
                </c:pt>
                <c:pt idx="7">
                  <c:v>کرمان </c:v>
                </c:pt>
                <c:pt idx="8">
                  <c:v>کرمانشاه </c:v>
                </c:pt>
                <c:pt idx="9">
                  <c:v>هرمزگان </c:v>
                </c:pt>
                <c:pt idx="10">
                  <c:v>همدان </c:v>
                </c:pt>
                <c:pt idx="11">
                  <c:v>آذربایجان غربی </c:v>
                </c:pt>
                <c:pt idx="12">
                  <c:v>اردبیل </c:v>
                </c:pt>
                <c:pt idx="13">
                  <c:v>البرز </c:v>
                </c:pt>
                <c:pt idx="14">
                  <c:v>بوشهر </c:v>
                </c:pt>
                <c:pt idx="15">
                  <c:v>خراسان جنوبی </c:v>
                </c:pt>
                <c:pt idx="16">
                  <c:v>خراسان شمالی </c:v>
                </c:pt>
                <c:pt idx="17">
                  <c:v>ایلام </c:v>
                </c:pt>
                <c:pt idx="18">
                  <c:v>چهارمحال وبختیاری </c:v>
                </c:pt>
                <c:pt idx="19">
                  <c:v>زنجان </c:v>
                </c:pt>
                <c:pt idx="20">
                  <c:v>سمنان </c:v>
                </c:pt>
                <c:pt idx="21">
                  <c:v>قزوین </c:v>
                </c:pt>
                <c:pt idx="22">
                  <c:v>قم </c:v>
                </c:pt>
                <c:pt idx="23">
                  <c:v>کردستان </c:v>
                </c:pt>
                <c:pt idx="24">
                  <c:v>کهگیلویه وبویراحمد </c:v>
                </c:pt>
                <c:pt idx="25">
                  <c:v>گلستان </c:v>
                </c:pt>
                <c:pt idx="26">
                  <c:v>گیلان </c:v>
                </c:pt>
                <c:pt idx="27">
                  <c:v>لرستان </c:v>
                </c:pt>
                <c:pt idx="28">
                  <c:v>مازندران </c:v>
                </c:pt>
                <c:pt idx="29">
                  <c:v>مرکزی </c:v>
                </c:pt>
                <c:pt idx="30">
                  <c:v>یزد </c:v>
                </c:pt>
              </c:strCache>
            </c:strRef>
          </c:cat>
          <c:val>
            <c:numRef>
              <c:f>Sheet2!$M$7:$M$37</c:f>
              <c:numCache>
                <c:formatCode>#,##0</c:formatCode>
                <c:ptCount val="31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80</c:v>
                </c:pt>
                <c:pt idx="7">
                  <c:v>60</c:v>
                </c:pt>
                <c:pt idx="8">
                  <c:v>60</c:v>
                </c:pt>
                <c:pt idx="9">
                  <c:v>60</c:v>
                </c:pt>
                <c:pt idx="10">
                  <c:v>60</c:v>
                </c:pt>
                <c:pt idx="11">
                  <c:v>50</c:v>
                </c:pt>
                <c:pt idx="12">
                  <c:v>50</c:v>
                </c:pt>
                <c:pt idx="13">
                  <c:v>50</c:v>
                </c:pt>
                <c:pt idx="14">
                  <c:v>50</c:v>
                </c:pt>
                <c:pt idx="15">
                  <c:v>50</c:v>
                </c:pt>
                <c:pt idx="16">
                  <c:v>50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20</c:v>
                </c:pt>
                <c:pt idx="24">
                  <c:v>20</c:v>
                </c:pt>
                <c:pt idx="25">
                  <c:v>20</c:v>
                </c:pt>
                <c:pt idx="26">
                  <c:v>20</c:v>
                </c:pt>
                <c:pt idx="27">
                  <c:v>20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16-40E8-BDF3-EC65F328F1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25"/>
        <c:axId val="1688783663"/>
        <c:axId val="1688782223"/>
      </c:barChart>
      <c:catAx>
        <c:axId val="16887836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cap="none" spc="20" normalizeH="0" baseline="0">
                <a:solidFill>
                  <a:schemeClr val="tx1"/>
                </a:solidFill>
                <a:latin typeface="+mn-lt"/>
                <a:ea typeface="+mn-ea"/>
                <a:cs typeface="B Roya" panose="00000400000000000000" pitchFamily="2" charset="-78"/>
              </a:defRPr>
            </a:pPr>
            <a:endParaRPr lang="en-US"/>
          </a:p>
        </c:txPr>
        <c:crossAx val="1688782223"/>
        <c:crosses val="autoZero"/>
        <c:auto val="1"/>
        <c:lblAlgn val="ctr"/>
        <c:lblOffset val="100"/>
        <c:noMultiLvlLbl val="0"/>
      </c:catAx>
      <c:valAx>
        <c:axId val="1688782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8783663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bg1">
        <a:lumMod val="75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D6D6A-17F0-4D8D-B5A8-4D540AEAE29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7D26-4FAF-4517-8C6A-DB2104FC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12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D6D6A-17F0-4D8D-B5A8-4D540AEAE29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7D26-4FAF-4517-8C6A-DB2104FC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860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D6D6A-17F0-4D8D-B5A8-4D540AEAE29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7D26-4FAF-4517-8C6A-DB2104FC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17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D6D6A-17F0-4D8D-B5A8-4D540AEAE29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7D26-4FAF-4517-8C6A-DB2104FC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552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D6D6A-17F0-4D8D-B5A8-4D540AEAE29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7D26-4FAF-4517-8C6A-DB2104FC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75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D6D6A-17F0-4D8D-B5A8-4D540AEAE29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7D26-4FAF-4517-8C6A-DB2104FC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18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D6D6A-17F0-4D8D-B5A8-4D540AEAE29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7D26-4FAF-4517-8C6A-DB2104FC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61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D6D6A-17F0-4D8D-B5A8-4D540AEAE29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7D26-4FAF-4517-8C6A-DB2104FC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085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D6D6A-17F0-4D8D-B5A8-4D540AEAE29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7D26-4FAF-4517-8C6A-DB2104FC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1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D6D6A-17F0-4D8D-B5A8-4D540AEAE29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7D26-4FAF-4517-8C6A-DB2104FC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88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D6D6A-17F0-4D8D-B5A8-4D540AEAE29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57D26-4FAF-4517-8C6A-DB2104FC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6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D6D6A-17F0-4D8D-B5A8-4D540AEAE29A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57D26-4FAF-4517-8C6A-DB2104FC95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1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17"/>
          <a:stretch/>
        </p:blipFill>
        <p:spPr>
          <a:xfrm>
            <a:off x="0" y="1851101"/>
            <a:ext cx="12192000" cy="500689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7796" y="55757"/>
            <a:ext cx="11976408" cy="1694985"/>
          </a:xfrm>
          <a:prstGeom prst="roundRect">
            <a:avLst/>
          </a:prstGeom>
          <a:solidFill>
            <a:schemeClr val="bg1"/>
          </a:solidFill>
          <a:effectLst>
            <a:outerShdw blurRad="50800" dist="50800" dir="5400000" algn="ctr" rotWithShape="0">
              <a:srgbClr val="000000">
                <a:alpha val="5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</a:pPr>
            <a:r>
              <a:rPr lang="fa-IR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IranNastaliq" panose="02020505000000020003" pitchFamily="18" charset="0"/>
                <a:cs typeface="B Baran Outline" panose="00000400000000000000" pitchFamily="2" charset="-78"/>
              </a:rPr>
              <a:t>بسمه تعالی</a:t>
            </a:r>
          </a:p>
          <a:p>
            <a:pPr algn="ctr">
              <a:spcAft>
                <a:spcPts val="600"/>
              </a:spcAft>
            </a:pPr>
            <a:r>
              <a:rPr lang="fa-IR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IranNastaliq" panose="02020505000000020003" pitchFamily="18" charset="0"/>
                <a:cs typeface="B Titr" panose="00000700000000000000" pitchFamily="2" charset="-78"/>
              </a:rPr>
              <a:t>گزارش </a:t>
            </a:r>
            <a:r>
              <a:rPr lang="fa-I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IranNastaliq" panose="02020505000000020003" pitchFamily="18" charset="0"/>
                <a:cs typeface="B Titr" panose="00000700000000000000" pitchFamily="2" charset="-78"/>
              </a:rPr>
              <a:t>طرح خانه امید </a:t>
            </a:r>
            <a:endParaRPr lang="fa-IR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IranNastaliq" panose="02020505000000020003" pitchFamily="18" charset="0"/>
              <a:cs typeface="B Titr" panose="00000700000000000000" pitchFamily="2" charset="-78"/>
            </a:endParaRPr>
          </a:p>
          <a:p>
            <a:pPr algn="ctr"/>
            <a:r>
              <a:rPr lang="fa-IR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IranNastaliq" panose="02020505000000020003" pitchFamily="18" charset="0"/>
                <a:cs typeface="B Titr" panose="00000700000000000000" pitchFamily="2" charset="-78"/>
              </a:rPr>
              <a:t>جلسه شورای مرکزی بنیاد مسکن انقلاب اسلامی</a:t>
            </a:r>
          </a:p>
          <a:p>
            <a:pPr algn="ctr">
              <a:spcBef>
                <a:spcPts val="1200"/>
              </a:spcBef>
            </a:pPr>
            <a:r>
              <a:rPr lang="fa-IR" sz="11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IranNastaliq" panose="02020505000000020003" pitchFamily="18" charset="0"/>
                <a:cs typeface="B Titr" panose="00000700000000000000" pitchFamily="2" charset="-78"/>
              </a:rPr>
              <a:t>مورخ : 1405/7/27</a:t>
            </a:r>
            <a:endParaRPr lang="fa-IR" sz="1100" dirty="0">
              <a:solidFill>
                <a:schemeClr val="tx1">
                  <a:lumMod val="65000"/>
                  <a:lumOff val="35000"/>
                </a:schemeClr>
              </a:solidFill>
              <a:latin typeface="IranNastaliq" panose="02020505000000020003" pitchFamily="18" charset="0"/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10151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A6029-19D5-DE23-C6DA-7F372320C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1FE7625D-5C98-1BBB-4265-939D4761CB26}"/>
              </a:ext>
            </a:extLst>
          </p:cNvPr>
          <p:cNvGrpSpPr/>
          <p:nvPr/>
        </p:nvGrpSpPr>
        <p:grpSpPr>
          <a:xfrm>
            <a:off x="3349747" y="311233"/>
            <a:ext cx="8513859" cy="692497"/>
            <a:chOff x="1328264" y="165125"/>
            <a:chExt cx="10478596" cy="1013618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83DC27-3F81-0CA3-AE6A-EE3705C71B69}"/>
                </a:ext>
              </a:extLst>
            </p:cNvPr>
            <p:cNvSpPr txBox="1"/>
            <p:nvPr/>
          </p:nvSpPr>
          <p:spPr>
            <a:xfrm>
              <a:off x="1328264" y="165125"/>
              <a:ext cx="10241667" cy="10136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 rtl="1">
                <a:lnSpc>
                  <a:spcPct val="150000"/>
                </a:lnSpc>
              </a:pPr>
              <a:r>
                <a:rPr lang="fa-IR" sz="2600" dirty="0">
                  <a:cs typeface="B Titr" panose="00000700000000000000" pitchFamily="2" charset="-78"/>
                </a:rPr>
                <a:t>هدف طرح خانه امید در بنیاد مسکن 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AAC0E6-6427-741A-44A9-5077AC9C8363}"/>
                </a:ext>
              </a:extLst>
            </p:cNvPr>
            <p:cNvCxnSpPr/>
            <p:nvPr/>
          </p:nvCxnSpPr>
          <p:spPr>
            <a:xfrm flipH="1">
              <a:off x="11795709" y="252567"/>
              <a:ext cx="11151" cy="639531"/>
            </a:xfrm>
            <a:prstGeom prst="line">
              <a:avLst/>
            </a:prstGeom>
            <a:ln w="889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9F887B17-F2B5-C922-547E-19CA75F0CAE3}"/>
              </a:ext>
            </a:extLst>
          </p:cNvPr>
          <p:cNvSpPr txBox="1"/>
          <p:nvPr/>
        </p:nvSpPr>
        <p:spPr>
          <a:xfrm>
            <a:off x="491454" y="1360881"/>
            <a:ext cx="11184673" cy="526297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just" rtl="1">
              <a:lnSpc>
                <a:spcPct val="200000"/>
              </a:lnSpc>
            </a:pPr>
            <a:r>
              <a:rPr lang="fa-IR" sz="2400" dirty="0">
                <a:cs typeface="B Titr" panose="00000700000000000000" pitchFamily="2" charset="-78"/>
              </a:rPr>
              <a:t>بنیاد مسکن انقلاب اسلامی در راستای اصل 31 قانون اساسی و وظیفه ذاتی خود طبق اساسنامه مبنی بر تأمین مسکن محرومین، نسبت به </a:t>
            </a:r>
            <a:r>
              <a:rPr lang="fa-IR" sz="2400" dirty="0">
                <a:solidFill>
                  <a:srgbClr val="FF0000"/>
                </a:solidFill>
                <a:cs typeface="B Titr" panose="00000700000000000000" pitchFamily="2" charset="-78"/>
              </a:rPr>
              <a:t>افزایش دسترسی به مسکن (به صورت ملکی و استیجار) </a:t>
            </a:r>
            <a:r>
              <a:rPr lang="fa-IR" sz="2400" dirty="0">
                <a:cs typeface="B Titr" panose="00000700000000000000" pitchFamily="2" charset="-78"/>
              </a:rPr>
              <a:t>برای</a:t>
            </a:r>
            <a:r>
              <a:rPr lang="fa-IR" sz="2400" dirty="0">
                <a:solidFill>
                  <a:srgbClr val="FF0000"/>
                </a:solidFill>
                <a:cs typeface="B Titr" panose="00000700000000000000" pitchFamily="2" charset="-78"/>
              </a:rPr>
              <a:t> </a:t>
            </a:r>
            <a:r>
              <a:rPr lang="fa-IR" sz="2400" dirty="0">
                <a:solidFill>
                  <a:srgbClr val="00B050"/>
                </a:solidFill>
                <a:cs typeface="B Titr" panose="00000700000000000000" pitchFamily="2" charset="-78"/>
              </a:rPr>
              <a:t>خانوارهای دهک 1 تا 4 درآمدی و یا خانوارهای تحت پوشش نهادهای حمایتی (کمیته امداد و بهزیستی) فاقد مسکن (با فرم ج سبز)</a:t>
            </a:r>
            <a:r>
              <a:rPr lang="fa-IR" sz="2400" dirty="0">
                <a:cs typeface="B Titr" panose="00000700000000000000" pitchFamily="2" charset="-78"/>
              </a:rPr>
              <a:t> در سال 1405 :</a:t>
            </a:r>
          </a:p>
          <a:p>
            <a:pPr marL="1393066" lvl="3" indent="-278613" algn="just" rt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a-IR" sz="2400" dirty="0">
                <a:solidFill>
                  <a:srgbClr val="00B0F0"/>
                </a:solidFill>
                <a:cs typeface="B Titr" panose="00000700000000000000" pitchFamily="2" charset="-78"/>
              </a:rPr>
              <a:t>65 هزار واحد در شهرها</a:t>
            </a:r>
          </a:p>
          <a:p>
            <a:pPr marL="1393066" lvl="3" indent="-278613" algn="just" rt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a-IR" sz="2400" dirty="0">
                <a:solidFill>
                  <a:srgbClr val="00B0F0"/>
                </a:solidFill>
                <a:cs typeface="B Titr" panose="00000700000000000000" pitchFamily="2" charset="-78"/>
              </a:rPr>
              <a:t>155 هزار واحد در روستاها </a:t>
            </a:r>
            <a:r>
              <a:rPr lang="fa-IR" sz="1600" dirty="0">
                <a:cs typeface="B Titr" panose="00000700000000000000" pitchFamily="2" charset="-78"/>
              </a:rPr>
              <a:t>(73% از واحدهای غیرمقاوم روستایی متعلق به خانوارهای دهک 1 تا 4 می‌باشند)</a:t>
            </a:r>
            <a:endParaRPr lang="fa-IR" sz="2400" dirty="0">
              <a:cs typeface="B Titr" panose="00000700000000000000" pitchFamily="2" charset="-78"/>
            </a:endParaRPr>
          </a:p>
          <a:p>
            <a:pPr algn="just" rtl="1">
              <a:lnSpc>
                <a:spcPct val="200000"/>
              </a:lnSpc>
            </a:pPr>
            <a:r>
              <a:rPr lang="fa-IR" sz="2400" dirty="0">
                <a:cs typeface="B Titr" panose="00000700000000000000" pitchFamily="2" charset="-78"/>
              </a:rPr>
              <a:t>به منظور ارتقاء کیفیت زندگی از طریق همکاری نهادی، </a:t>
            </a:r>
            <a:r>
              <a:rPr lang="fa-IR" sz="2400" dirty="0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  <a:t>راهبری و نظارت </a:t>
            </a:r>
            <a:r>
              <a:rPr lang="fa-IR" sz="2400" dirty="0">
                <a:cs typeface="B Titr" panose="00000700000000000000" pitchFamily="2" charset="-78"/>
              </a:rPr>
              <a:t>می‎نماید. </a:t>
            </a:r>
          </a:p>
        </p:txBody>
      </p:sp>
    </p:spTree>
    <p:extLst>
      <p:ext uri="{BB962C8B-B14F-4D97-AF65-F5344CB8AC3E}">
        <p14:creationId xmlns:p14="http://schemas.microsoft.com/office/powerpoint/2010/main" val="132100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661211" y="1365011"/>
            <a:ext cx="3059018" cy="58306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50800" dist="38100" dir="8100000" sx="103000" sy="103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latin typeface="B Titr" panose="00000700000000000000" pitchFamily="2" charset="-78"/>
                <a:cs typeface="B Titr" panose="00000700000000000000" pitchFamily="2" charset="-78"/>
              </a:rPr>
              <a:t>مسکن روستایی : </a:t>
            </a:r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cs typeface="B Titr" panose="00000700000000000000" pitchFamily="2" charset="-78"/>
              </a:rPr>
              <a:t>155000 </a:t>
            </a:r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latin typeface="B Titr" panose="00000700000000000000" pitchFamily="2" charset="-78"/>
                <a:cs typeface="B Titr" panose="00000700000000000000" pitchFamily="2" charset="-78"/>
              </a:rPr>
              <a:t>واحد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661211" y="2970786"/>
            <a:ext cx="3059018" cy="58306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50800" dist="38100" dir="8100000" sx="103000" sy="103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latin typeface="B Titr" panose="00000700000000000000" pitchFamily="2" charset="-78"/>
                <a:cs typeface="B Titr" panose="00000700000000000000" pitchFamily="2" charset="-78"/>
              </a:rPr>
              <a:t>مسکن شهری : </a:t>
            </a:r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cs typeface="B Titr" panose="00000700000000000000" pitchFamily="2" charset="-78"/>
              </a:rPr>
              <a:t>65000 </a:t>
            </a:r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latin typeface="B Titr" panose="00000700000000000000" pitchFamily="2" charset="-78"/>
                <a:cs typeface="B Titr" panose="00000700000000000000" pitchFamily="2" charset="-78"/>
              </a:rPr>
              <a:t>واحد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037061" y="3838787"/>
            <a:ext cx="2260915" cy="583061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8100000" sx="103000" sy="103000" algn="tr" rotWithShape="0">
              <a:schemeClr val="accent6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fa-IR" sz="1400" b="1" dirty="0">
                <a:solidFill>
                  <a:srgbClr val="000000"/>
                </a:solidFill>
                <a:latin typeface="B Titr" panose="00000700000000000000" pitchFamily="2" charset="-78"/>
                <a:cs typeface="B Nazanin" panose="00000400000000000000" pitchFamily="2" charset="-78"/>
              </a:rPr>
              <a:t>مسکن استیجاری :  </a:t>
            </a:r>
            <a:r>
              <a:rPr lang="fa-IR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B Nazanin" panose="00000400000000000000" pitchFamily="2" charset="-78"/>
              </a:rPr>
              <a:t>1500 واحد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060" y="2137503"/>
            <a:ext cx="2260915" cy="583061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  <a:effectLst>
            <a:outerShdw blurRad="50800" dist="38100" dir="8100000" sx="103000" sy="103000" algn="tr" rotWithShape="0">
              <a:schemeClr val="accent6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fa-IR" sz="1400" b="1" dirty="0">
                <a:solidFill>
                  <a:srgbClr val="000000"/>
                </a:solidFill>
                <a:latin typeface="B Titr" panose="00000700000000000000" pitchFamily="2" charset="-78"/>
                <a:cs typeface="B Nazanin" panose="00000400000000000000" pitchFamily="2" charset="-78"/>
              </a:rPr>
              <a:t>مسکن ملکی :  </a:t>
            </a:r>
            <a:r>
              <a:rPr lang="fa-IR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B Nazanin" panose="00000400000000000000" pitchFamily="2" charset="-78"/>
              </a:rPr>
              <a:t>63500 واحد</a:t>
            </a:r>
          </a:p>
        </p:txBody>
      </p:sp>
      <p:cxnSp>
        <p:nvCxnSpPr>
          <p:cNvPr id="6" name="Elbow Connector 5"/>
          <p:cNvCxnSpPr>
            <a:cxnSpLocks/>
            <a:stCxn id="3" idx="1"/>
            <a:endCxn id="5" idx="3"/>
          </p:cNvCxnSpPr>
          <p:nvPr/>
        </p:nvCxnSpPr>
        <p:spPr>
          <a:xfrm rot="10800000">
            <a:off x="3297975" y="2429035"/>
            <a:ext cx="1363236" cy="83328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cxnSpLocks/>
            <a:stCxn id="3" idx="1"/>
            <a:endCxn id="4" idx="3"/>
          </p:cNvCxnSpPr>
          <p:nvPr/>
        </p:nvCxnSpPr>
        <p:spPr>
          <a:xfrm rot="10800000" flipV="1">
            <a:off x="3297977" y="3262316"/>
            <a:ext cx="1363235" cy="868001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75290" y="3695788"/>
            <a:ext cx="3059018" cy="58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  <a:effectLst>
            <a:outerShdw blurRad="50800" dist="38100" dir="8100000" sx="103000" sy="103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latin typeface="B Titr" panose="00000700000000000000" pitchFamily="2" charset="-78"/>
                <a:cs typeface="B Titr" panose="00000700000000000000" pitchFamily="2" charset="-78"/>
              </a:rPr>
              <a:t>تأمین زمین : </a:t>
            </a:r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cs typeface="B Titr" panose="00000700000000000000" pitchFamily="2" charset="-78"/>
              </a:rPr>
              <a:t>132000 </a:t>
            </a:r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latin typeface="B Titr" panose="00000700000000000000" pitchFamily="2" charset="-78"/>
                <a:cs typeface="B Titr" panose="00000700000000000000" pitchFamily="2" charset="-78"/>
              </a:rPr>
              <a:t>واحد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575290" y="2137503"/>
            <a:ext cx="3059018" cy="58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  <a:effectLst>
            <a:outerShdw blurRad="50800" dist="38100" dir="8100000" sx="103000" sy="103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latin typeface="B Titr" panose="00000700000000000000" pitchFamily="2" charset="-78"/>
                <a:cs typeface="B Titr" panose="00000700000000000000" pitchFamily="2" charset="-78"/>
              </a:rPr>
              <a:t>واحد مسکونی : </a:t>
            </a:r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cs typeface="B Titr" panose="00000700000000000000" pitchFamily="2" charset="-78"/>
              </a:rPr>
              <a:t>220000 </a:t>
            </a:r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latin typeface="B Titr" panose="00000700000000000000" pitchFamily="2" charset="-78"/>
                <a:cs typeface="B Titr" panose="00000700000000000000" pitchFamily="2" charset="-78"/>
              </a:rPr>
              <a:t>واحد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0" name="Elbow Connector 19"/>
          <p:cNvCxnSpPr>
            <a:cxnSpLocks/>
            <a:stCxn id="19" idx="1"/>
            <a:endCxn id="2" idx="3"/>
          </p:cNvCxnSpPr>
          <p:nvPr/>
        </p:nvCxnSpPr>
        <p:spPr>
          <a:xfrm rot="10800000">
            <a:off x="7720230" y="1656542"/>
            <a:ext cx="855061" cy="772492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22"/>
          <p:cNvCxnSpPr>
            <a:cxnSpLocks/>
            <a:stCxn id="19" idx="1"/>
            <a:endCxn id="3" idx="3"/>
          </p:cNvCxnSpPr>
          <p:nvPr/>
        </p:nvCxnSpPr>
        <p:spPr>
          <a:xfrm rot="10800000" flipV="1">
            <a:off x="7720230" y="2429033"/>
            <a:ext cx="855061" cy="83328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575290" y="5248540"/>
            <a:ext cx="3059018" cy="583061"/>
          </a:xfrm>
          <a:prstGeom prst="roundRect">
            <a:avLst/>
          </a:prstGeom>
          <a:solidFill>
            <a:schemeClr val="bg1">
              <a:lumMod val="95000"/>
            </a:schemeClr>
          </a:solidFill>
          <a:ln/>
          <a:effectLst>
            <a:outerShdw blurRad="50800" dist="38100" dir="8100000" sx="103000" sy="103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latin typeface="B Titr" panose="00000700000000000000" pitchFamily="2" charset="-78"/>
                <a:cs typeface="B Titr" panose="00000700000000000000" pitchFamily="2" charset="-78"/>
              </a:rPr>
              <a:t>تامین منابع مالی : </a:t>
            </a:r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cs typeface="B Titr" panose="00000700000000000000" pitchFamily="2" charset="-78"/>
              </a:rPr>
              <a:t>237 </a:t>
            </a:r>
            <a:r>
              <a:rPr lang="fa-IR" dirty="0">
                <a:solidFill>
                  <a:schemeClr val="tx1">
                    <a:lumMod val="65000"/>
                    <a:lumOff val="35000"/>
                  </a:schemeClr>
                </a:solidFill>
                <a:latin typeface="B Titr" panose="00000700000000000000" pitchFamily="2" charset="-78"/>
                <a:cs typeface="B Titr" panose="00000700000000000000" pitchFamily="2" charset="-78"/>
              </a:rPr>
              <a:t>همت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7" name="Isosceles Triangle 26"/>
          <p:cNvSpPr/>
          <p:nvPr/>
        </p:nvSpPr>
        <p:spPr>
          <a:xfrm rot="1758352">
            <a:off x="11360700" y="-78576"/>
            <a:ext cx="1165563" cy="1036389"/>
          </a:xfrm>
          <a:prstGeom prst="triangle">
            <a:avLst/>
          </a:prstGeom>
          <a:solidFill>
            <a:srgbClr val="843C0C"/>
          </a:solidFill>
          <a:ln>
            <a:solidFill>
              <a:srgbClr val="843C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D69C449D-564D-0408-DD4B-2EE1C9DEC6EB}"/>
              </a:ext>
            </a:extLst>
          </p:cNvPr>
          <p:cNvSpPr txBox="1">
            <a:spLocks/>
          </p:cNvSpPr>
          <p:nvPr/>
        </p:nvSpPr>
        <p:spPr>
          <a:xfrm>
            <a:off x="1156010" y="147008"/>
            <a:ext cx="99003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50000"/>
              </a:lnSpc>
            </a:pPr>
            <a:r>
              <a:rPr lang="fa-IR" sz="3200" dirty="0">
                <a:solidFill>
                  <a:schemeClr val="accent2">
                    <a:lumMod val="50000"/>
                  </a:schemeClr>
                </a:solidFill>
                <a:cs typeface="B Titr" panose="00000700000000000000" pitchFamily="2" charset="-78"/>
              </a:rPr>
              <a:t>برنامه طرح خانه امید </a:t>
            </a:r>
            <a:r>
              <a:rPr lang="fa-IR" sz="2000" dirty="0">
                <a:solidFill>
                  <a:schemeClr val="accent2">
                    <a:lumMod val="50000"/>
                  </a:schemeClr>
                </a:solidFill>
                <a:cs typeface="B Titr" panose="00000700000000000000" pitchFamily="2" charset="-78"/>
              </a:rPr>
              <a:t>(مسکن محرومین)</a:t>
            </a:r>
            <a:endParaRPr lang="fa-IR" sz="2400" dirty="0">
              <a:solidFill>
                <a:schemeClr val="accent2">
                  <a:lumMod val="50000"/>
                </a:schemeClr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8036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5601057"/>
              </p:ext>
            </p:extLst>
          </p:nvPr>
        </p:nvGraphicFramePr>
        <p:xfrm>
          <a:off x="189571" y="1193180"/>
          <a:ext cx="11719931" cy="5508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189571" y="294878"/>
            <a:ext cx="11719931" cy="6117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>
              <a:lnSpc>
                <a:spcPct val="150000"/>
              </a:lnSpc>
            </a:pPr>
            <a:r>
              <a:rPr lang="fa-IR" sz="2800" dirty="0">
                <a:solidFill>
                  <a:schemeClr val="tx1">
                    <a:lumMod val="75000"/>
                    <a:lumOff val="25000"/>
                  </a:schemeClr>
                </a:solidFill>
                <a:cs typeface="B Titr" panose="00000700000000000000" pitchFamily="2" charset="-78"/>
              </a:rPr>
              <a:t>توزیع برنامه 220 هزار واحد مسکونی به تفکیک استان ها</a:t>
            </a:r>
            <a:endParaRPr lang="fa-IR" sz="2000" dirty="0">
              <a:solidFill>
                <a:schemeClr val="tx1">
                  <a:lumMod val="75000"/>
                  <a:lumOff val="25000"/>
                </a:schemeClr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54933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7629" y="280310"/>
            <a:ext cx="11574953" cy="6117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fa-IR" sz="28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برنامه تأمین زمین</a:t>
            </a:r>
            <a:endParaRPr lang="fa-IR" sz="20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sp>
        <p:nvSpPr>
          <p:cNvPr id="24" name="Rectangle: Rounded Corners 1">
            <a:extLst>
              <a:ext uri="{FF2B5EF4-FFF2-40B4-BE49-F238E27FC236}">
                <a16:creationId xmlns:a16="http://schemas.microsoft.com/office/drawing/2014/main" id="{7E0402C1-4022-B1A4-46C0-D4D3A345DD34}"/>
              </a:ext>
            </a:extLst>
          </p:cNvPr>
          <p:cNvSpPr/>
          <p:nvPr/>
        </p:nvSpPr>
        <p:spPr>
          <a:xfrm>
            <a:off x="4248616" y="1606052"/>
            <a:ext cx="7404396" cy="65046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600" b="1" dirty="0">
                <a:solidFill>
                  <a:schemeClr val="tx1"/>
                </a:solidFill>
                <a:cs typeface="B Titr" panose="00000700000000000000" pitchFamily="2" charset="-78"/>
              </a:rPr>
              <a:t>تفاهم‌نامه تأمین زمین با سازمان ملی زمین و مسکن</a:t>
            </a:r>
            <a:endParaRPr lang="fa-IR" sz="1600" dirty="0">
              <a:cs typeface="B Titr" panose="00000700000000000000" pitchFamily="2" charset="-78"/>
            </a:endParaRPr>
          </a:p>
        </p:txBody>
      </p:sp>
      <p:sp>
        <p:nvSpPr>
          <p:cNvPr id="25" name="Rectangle: Rounded Corners 3">
            <a:extLst>
              <a:ext uri="{FF2B5EF4-FFF2-40B4-BE49-F238E27FC236}">
                <a16:creationId xmlns:a16="http://schemas.microsoft.com/office/drawing/2014/main" id="{5FA8FB25-74FF-EC5F-225C-9799F2C801B3}"/>
              </a:ext>
            </a:extLst>
          </p:cNvPr>
          <p:cNvSpPr/>
          <p:nvPr/>
        </p:nvSpPr>
        <p:spPr>
          <a:xfrm>
            <a:off x="4248616" y="2379130"/>
            <a:ext cx="7404396" cy="64076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600" b="1" dirty="0">
                <a:solidFill>
                  <a:schemeClr val="tx1"/>
                </a:solidFill>
                <a:cs typeface="B Titr" panose="00000700000000000000" pitchFamily="2" charset="-78"/>
              </a:rPr>
              <a:t>تفاهم‌نامه تأمین زمین با شرکت عمران شهرهای جدید</a:t>
            </a:r>
            <a:endParaRPr lang="fa-IR" sz="1600" dirty="0">
              <a:cs typeface="B Titr" panose="00000700000000000000" pitchFamily="2" charset="-78"/>
            </a:endParaRPr>
          </a:p>
        </p:txBody>
      </p:sp>
      <p:sp>
        <p:nvSpPr>
          <p:cNvPr id="26" name="Rectangle: Rounded Corners 5">
            <a:extLst>
              <a:ext uri="{FF2B5EF4-FFF2-40B4-BE49-F238E27FC236}">
                <a16:creationId xmlns:a16="http://schemas.microsoft.com/office/drawing/2014/main" id="{88C699CC-A9E5-FD9E-7DE5-63140B1D8573}"/>
              </a:ext>
            </a:extLst>
          </p:cNvPr>
          <p:cNvSpPr/>
          <p:nvPr/>
        </p:nvSpPr>
        <p:spPr>
          <a:xfrm>
            <a:off x="4248616" y="3142508"/>
            <a:ext cx="7404396" cy="60518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600" b="1" dirty="0">
                <a:solidFill>
                  <a:schemeClr val="tx1"/>
                </a:solidFill>
                <a:cs typeface="B Titr" panose="00000700000000000000" pitchFamily="2" charset="-78"/>
              </a:rPr>
              <a:t>تأمین زمین رایگان </a:t>
            </a:r>
            <a:r>
              <a:rPr lang="fa-IR" sz="1600" b="1" dirty="0">
                <a:solidFill>
                  <a:schemeClr val="tx1">
                    <a:lumMod val="95000"/>
                    <a:lumOff val="5000"/>
                  </a:schemeClr>
                </a:solidFill>
                <a:cs typeface="B Titr" panose="00000700000000000000" pitchFamily="2" charset="-78"/>
              </a:rPr>
              <a:t>متعلق به بنیاد </a:t>
            </a:r>
            <a:r>
              <a:rPr lang="fa-IR" sz="1600" b="1" dirty="0">
                <a:solidFill>
                  <a:schemeClr val="tx1"/>
                </a:solidFill>
                <a:cs typeface="B Titr" panose="00000700000000000000" pitchFamily="2" charset="-78"/>
              </a:rPr>
              <a:t>در روستاهای حریم شهر</a:t>
            </a:r>
            <a:endParaRPr lang="fa-IR" sz="1600" dirty="0">
              <a:cs typeface="B Titr" panose="00000700000000000000" pitchFamily="2" charset="-78"/>
            </a:endParaRPr>
          </a:p>
        </p:txBody>
      </p:sp>
      <p:sp>
        <p:nvSpPr>
          <p:cNvPr id="27" name="Rectangle: Rounded Corners 7">
            <a:extLst>
              <a:ext uri="{FF2B5EF4-FFF2-40B4-BE49-F238E27FC236}">
                <a16:creationId xmlns:a16="http://schemas.microsoft.com/office/drawing/2014/main" id="{6D10488B-8EC8-A792-3766-AE73BF050E2A}"/>
              </a:ext>
            </a:extLst>
          </p:cNvPr>
          <p:cNvSpPr/>
          <p:nvPr/>
        </p:nvSpPr>
        <p:spPr>
          <a:xfrm>
            <a:off x="4248616" y="3870307"/>
            <a:ext cx="7404396" cy="6347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600" b="1" dirty="0">
                <a:solidFill>
                  <a:schemeClr val="tx1"/>
                </a:solidFill>
                <a:cs typeface="B Titr" panose="00000700000000000000" pitchFamily="2" charset="-78"/>
              </a:rPr>
              <a:t>بارگذاری زمین در </a:t>
            </a:r>
            <a:r>
              <a:rPr lang="fa-I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B Titr" panose="00000700000000000000" pitchFamily="2" charset="-78"/>
              </a:rPr>
              <a:t>سامانه سماع و تم</a:t>
            </a:r>
          </a:p>
        </p:txBody>
      </p:sp>
      <p:sp>
        <p:nvSpPr>
          <p:cNvPr id="29" name="Rectangle: Rounded Corners 1">
            <a:extLst>
              <a:ext uri="{FF2B5EF4-FFF2-40B4-BE49-F238E27FC236}">
                <a16:creationId xmlns:a16="http://schemas.microsoft.com/office/drawing/2014/main" id="{7E0402C1-4022-B1A4-46C0-D4D3A345DD34}"/>
              </a:ext>
            </a:extLst>
          </p:cNvPr>
          <p:cNvSpPr/>
          <p:nvPr/>
        </p:nvSpPr>
        <p:spPr>
          <a:xfrm>
            <a:off x="791736" y="1606052"/>
            <a:ext cx="3244993" cy="65046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600" b="1" dirty="0">
                <a:solidFill>
                  <a:srgbClr val="FF0000"/>
                </a:solidFill>
                <a:cs typeface="B Titr" panose="00000700000000000000" pitchFamily="2" charset="-78"/>
              </a:rPr>
              <a:t>50 هزار واحد مسکونی</a:t>
            </a:r>
            <a:endParaRPr lang="fa-IR" sz="1600" dirty="0">
              <a:cs typeface="B Titr" panose="00000700000000000000" pitchFamily="2" charset="-78"/>
            </a:endParaRPr>
          </a:p>
        </p:txBody>
      </p:sp>
      <p:sp>
        <p:nvSpPr>
          <p:cNvPr id="30" name="Rectangle: Rounded Corners 1">
            <a:extLst>
              <a:ext uri="{FF2B5EF4-FFF2-40B4-BE49-F238E27FC236}">
                <a16:creationId xmlns:a16="http://schemas.microsoft.com/office/drawing/2014/main" id="{7E0402C1-4022-B1A4-46C0-D4D3A345DD34}"/>
              </a:ext>
            </a:extLst>
          </p:cNvPr>
          <p:cNvSpPr/>
          <p:nvPr/>
        </p:nvSpPr>
        <p:spPr>
          <a:xfrm>
            <a:off x="791736" y="2383103"/>
            <a:ext cx="3244993" cy="650466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600" b="1" dirty="0">
                <a:solidFill>
                  <a:srgbClr val="FF0000"/>
                </a:solidFill>
                <a:cs typeface="B Titr" panose="00000700000000000000" pitchFamily="2" charset="-78"/>
              </a:rPr>
              <a:t>25 هزار واحد مسکونی</a:t>
            </a:r>
            <a:endParaRPr lang="fa-IR" sz="1600" dirty="0">
              <a:cs typeface="B Titr" panose="00000700000000000000" pitchFamily="2" charset="-78"/>
            </a:endParaRPr>
          </a:p>
        </p:txBody>
      </p:sp>
      <p:sp>
        <p:nvSpPr>
          <p:cNvPr id="31" name="Rectangle: Rounded Corners 1">
            <a:extLst>
              <a:ext uri="{FF2B5EF4-FFF2-40B4-BE49-F238E27FC236}">
                <a16:creationId xmlns:a16="http://schemas.microsoft.com/office/drawing/2014/main" id="{7E0402C1-4022-B1A4-46C0-D4D3A345DD34}"/>
              </a:ext>
            </a:extLst>
          </p:cNvPr>
          <p:cNvSpPr/>
          <p:nvPr/>
        </p:nvSpPr>
        <p:spPr>
          <a:xfrm>
            <a:off x="791736" y="3160154"/>
            <a:ext cx="3244993" cy="58754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600" b="1" dirty="0">
                <a:solidFill>
                  <a:srgbClr val="FF0000"/>
                </a:solidFill>
                <a:cs typeface="B Titr" panose="00000700000000000000" pitchFamily="2" charset="-78"/>
              </a:rPr>
              <a:t>20 هزار واحد مسکونی</a:t>
            </a:r>
            <a:endParaRPr lang="fa-IR" sz="1600" dirty="0">
              <a:cs typeface="B Titr" panose="00000700000000000000" pitchFamily="2" charset="-78"/>
            </a:endParaRPr>
          </a:p>
        </p:txBody>
      </p:sp>
      <p:sp>
        <p:nvSpPr>
          <p:cNvPr id="32" name="Rectangle: Rounded Corners 1">
            <a:extLst>
              <a:ext uri="{FF2B5EF4-FFF2-40B4-BE49-F238E27FC236}">
                <a16:creationId xmlns:a16="http://schemas.microsoft.com/office/drawing/2014/main" id="{7E0402C1-4022-B1A4-46C0-D4D3A345DD34}"/>
              </a:ext>
            </a:extLst>
          </p:cNvPr>
          <p:cNvSpPr/>
          <p:nvPr/>
        </p:nvSpPr>
        <p:spPr>
          <a:xfrm>
            <a:off x="791736" y="3870307"/>
            <a:ext cx="3244993" cy="58754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600" b="1" dirty="0">
                <a:solidFill>
                  <a:srgbClr val="FF0000"/>
                </a:solidFill>
                <a:cs typeface="B Titr" panose="00000700000000000000" pitchFamily="2" charset="-78"/>
              </a:rPr>
              <a:t>33 هزار قطعه</a:t>
            </a:r>
            <a:endParaRPr lang="fa-IR" sz="1600" dirty="0">
              <a:cs typeface="B Titr" panose="00000700000000000000" pitchFamily="2" charset="-78"/>
            </a:endParaRPr>
          </a:p>
        </p:txBody>
      </p:sp>
      <p:sp>
        <p:nvSpPr>
          <p:cNvPr id="33" name="Rectangle: Rounded Corners 7">
            <a:extLst>
              <a:ext uri="{FF2B5EF4-FFF2-40B4-BE49-F238E27FC236}">
                <a16:creationId xmlns:a16="http://schemas.microsoft.com/office/drawing/2014/main" id="{6D10488B-8EC8-A792-3766-AE73BF050E2A}"/>
              </a:ext>
            </a:extLst>
          </p:cNvPr>
          <p:cNvSpPr/>
          <p:nvPr/>
        </p:nvSpPr>
        <p:spPr>
          <a:xfrm>
            <a:off x="4248616" y="4627704"/>
            <a:ext cx="7404396" cy="63478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600" b="1" dirty="0">
                <a:solidFill>
                  <a:schemeClr val="tx1"/>
                </a:solidFill>
                <a:cs typeface="B Titr" panose="00000700000000000000" pitchFamily="2" charset="-78"/>
              </a:rPr>
              <a:t>اراضی هبه‌ شده از سوی خیرین</a:t>
            </a:r>
          </a:p>
        </p:txBody>
      </p:sp>
      <p:sp>
        <p:nvSpPr>
          <p:cNvPr id="34" name="Rectangle: Rounded Corners 1">
            <a:extLst>
              <a:ext uri="{FF2B5EF4-FFF2-40B4-BE49-F238E27FC236}">
                <a16:creationId xmlns:a16="http://schemas.microsoft.com/office/drawing/2014/main" id="{7E0402C1-4022-B1A4-46C0-D4D3A345DD34}"/>
              </a:ext>
            </a:extLst>
          </p:cNvPr>
          <p:cNvSpPr/>
          <p:nvPr/>
        </p:nvSpPr>
        <p:spPr>
          <a:xfrm>
            <a:off x="791736" y="4627704"/>
            <a:ext cx="3244993" cy="634784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600" b="1" dirty="0">
                <a:solidFill>
                  <a:srgbClr val="FF0000"/>
                </a:solidFill>
                <a:cs typeface="B Titr" panose="00000700000000000000" pitchFamily="2" charset="-78"/>
              </a:rPr>
              <a:t>4 هزار واحد</a:t>
            </a:r>
            <a:endParaRPr lang="fa-IR" sz="1600" dirty="0">
              <a:cs typeface="B Titr" panose="00000700000000000000" pitchFamily="2" charset="-78"/>
            </a:endParaRPr>
          </a:p>
        </p:txBody>
      </p:sp>
      <p:sp>
        <p:nvSpPr>
          <p:cNvPr id="35" name="Rectangle: Rounded Corners 7">
            <a:extLst>
              <a:ext uri="{FF2B5EF4-FFF2-40B4-BE49-F238E27FC236}">
                <a16:creationId xmlns:a16="http://schemas.microsoft.com/office/drawing/2014/main" id="{6D10488B-8EC8-A792-3766-AE73BF050E2A}"/>
              </a:ext>
            </a:extLst>
          </p:cNvPr>
          <p:cNvSpPr/>
          <p:nvPr/>
        </p:nvSpPr>
        <p:spPr>
          <a:xfrm>
            <a:off x="4248616" y="5432345"/>
            <a:ext cx="7404396" cy="634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600" b="1" dirty="0">
                <a:solidFill>
                  <a:schemeClr val="tx1"/>
                </a:solidFill>
                <a:cs typeface="B Titr" panose="00000700000000000000" pitchFamily="2" charset="-78"/>
              </a:rPr>
              <a:t>مجموع</a:t>
            </a:r>
          </a:p>
        </p:txBody>
      </p:sp>
      <p:sp>
        <p:nvSpPr>
          <p:cNvPr id="36" name="Rectangle: Rounded Corners 1">
            <a:extLst>
              <a:ext uri="{FF2B5EF4-FFF2-40B4-BE49-F238E27FC236}">
                <a16:creationId xmlns:a16="http://schemas.microsoft.com/office/drawing/2014/main" id="{7E0402C1-4022-B1A4-46C0-D4D3A345DD34}"/>
              </a:ext>
            </a:extLst>
          </p:cNvPr>
          <p:cNvSpPr/>
          <p:nvPr/>
        </p:nvSpPr>
        <p:spPr>
          <a:xfrm>
            <a:off x="791736" y="5432345"/>
            <a:ext cx="3244993" cy="63478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600" b="1" dirty="0">
                <a:solidFill>
                  <a:srgbClr val="FF0000"/>
                </a:solidFill>
                <a:cs typeface="B Titr" panose="00000700000000000000" pitchFamily="2" charset="-78"/>
              </a:rPr>
              <a:t>132 هزار واحد</a:t>
            </a:r>
            <a:endParaRPr lang="fa-IR" sz="1600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75541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07809-AA45-8A0E-BC3E-081EC560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0402C1-4022-B1A4-46C0-D4D3A345DD34}"/>
              </a:ext>
            </a:extLst>
          </p:cNvPr>
          <p:cNvSpPr/>
          <p:nvPr/>
        </p:nvSpPr>
        <p:spPr>
          <a:xfrm>
            <a:off x="8468544" y="1113083"/>
            <a:ext cx="2449389" cy="98466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تفاهم‌نامه تأمین زمین برای</a:t>
            </a:r>
          </a:p>
          <a:p>
            <a:pPr algn="ctr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 </a:t>
            </a:r>
            <a:r>
              <a:rPr lang="fa-IR" sz="1463" b="1" dirty="0">
                <a:solidFill>
                  <a:srgbClr val="FF0000"/>
                </a:solidFill>
                <a:cs typeface="B Roya" panose="00000400000000000000" pitchFamily="2" charset="-78"/>
              </a:rPr>
              <a:t>50 هزار واحد مسکونی </a:t>
            </a:r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با سازمان ملی زمین و مسکن</a:t>
            </a:r>
            <a:endParaRPr lang="fa-IR" sz="1463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AE5E7B7-514F-18C1-A4D9-9872E6F9B308}"/>
              </a:ext>
            </a:extLst>
          </p:cNvPr>
          <p:cNvSpPr/>
          <p:nvPr/>
        </p:nvSpPr>
        <p:spPr>
          <a:xfrm>
            <a:off x="6821714" y="1113083"/>
            <a:ext cx="1573199" cy="984663"/>
          </a:xfrm>
          <a:prstGeom prst="roundRect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463" b="1" dirty="0">
                <a:solidFill>
                  <a:srgbClr val="FF0000"/>
                </a:solidFill>
                <a:cs typeface="B Roya" panose="00000400000000000000" pitchFamily="2" charset="-78"/>
              </a:rPr>
              <a:t>شناسایی</a:t>
            </a:r>
          </a:p>
          <a:p>
            <a:pPr algn="ct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526 قطعه زمین</a:t>
            </a:r>
          </a:p>
          <a:p>
            <a:pPr algn="ct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برای 31 هزار واحد</a:t>
            </a:r>
            <a:endParaRPr lang="fa-IR" sz="1463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A8FB25-74FF-EC5F-225C-9799F2C801B3}"/>
              </a:ext>
            </a:extLst>
          </p:cNvPr>
          <p:cNvSpPr/>
          <p:nvPr/>
        </p:nvSpPr>
        <p:spPr>
          <a:xfrm>
            <a:off x="8468544" y="2155875"/>
            <a:ext cx="2449389" cy="92506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تفاهم‌نامه تأمین زمین برای</a:t>
            </a:r>
          </a:p>
          <a:p>
            <a:pPr algn="ctr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 </a:t>
            </a:r>
            <a:r>
              <a:rPr lang="fa-IR" sz="1463" b="1" dirty="0">
                <a:solidFill>
                  <a:srgbClr val="FF0000"/>
                </a:solidFill>
                <a:cs typeface="B Roya" panose="00000400000000000000" pitchFamily="2" charset="-78"/>
              </a:rPr>
              <a:t>25 هزار واحد مسکونی</a:t>
            </a:r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 با شرکت عمران شهرهای جدید</a:t>
            </a:r>
            <a:endParaRPr lang="fa-IR" sz="1463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30C510-AA8E-3A15-719C-41DB0483F459}"/>
              </a:ext>
            </a:extLst>
          </p:cNvPr>
          <p:cNvSpPr/>
          <p:nvPr/>
        </p:nvSpPr>
        <p:spPr>
          <a:xfrm>
            <a:off x="5827739" y="2155875"/>
            <a:ext cx="2567174" cy="925063"/>
          </a:xfrm>
          <a:prstGeom prst="roundRect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463" b="1" dirty="0">
                <a:solidFill>
                  <a:srgbClr val="FF0000"/>
                </a:solidFill>
                <a:cs typeface="B Roya" panose="00000400000000000000" pitchFamily="2" charset="-78"/>
              </a:rPr>
              <a:t>شناسایی زمین</a:t>
            </a:r>
          </a:p>
          <a:p>
            <a:pPr algn="ct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 برای 5783 واحد مسکونی</a:t>
            </a:r>
          </a:p>
          <a:p>
            <a:pPr algn="ct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در 12 شهر جدید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8C699CC-A9E5-FD9E-7DE5-63140B1D8573}"/>
              </a:ext>
            </a:extLst>
          </p:cNvPr>
          <p:cNvSpPr/>
          <p:nvPr/>
        </p:nvSpPr>
        <p:spPr>
          <a:xfrm>
            <a:off x="8468544" y="3167667"/>
            <a:ext cx="2449389" cy="67518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تأمین زمین رایگان برای </a:t>
            </a:r>
            <a:r>
              <a:rPr lang="fa-IR" sz="1463" b="1" dirty="0">
                <a:solidFill>
                  <a:srgbClr val="FF0000"/>
                </a:solidFill>
                <a:cs typeface="B Roya" panose="00000400000000000000" pitchFamily="2" charset="-78"/>
              </a:rPr>
              <a:t>20 هزار واحد مسکونی </a:t>
            </a:r>
            <a:r>
              <a:rPr lang="fa-IR" sz="1463" b="1" dirty="0">
                <a:solidFill>
                  <a:schemeClr val="tx1">
                    <a:lumMod val="95000"/>
                    <a:lumOff val="5000"/>
                  </a:schemeClr>
                </a:solidFill>
                <a:cs typeface="B Roya" panose="00000400000000000000" pitchFamily="2" charset="-78"/>
              </a:rPr>
              <a:t>متعلق به بنیاد </a:t>
            </a:r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در روستاهای حریم شهر</a:t>
            </a:r>
            <a:endParaRPr lang="fa-IR" sz="1463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AF83947-7E5C-7E5D-8D84-4ADD1BF9CFEC}"/>
              </a:ext>
            </a:extLst>
          </p:cNvPr>
          <p:cNvSpPr/>
          <p:nvPr/>
        </p:nvSpPr>
        <p:spPr>
          <a:xfrm>
            <a:off x="972863" y="3167666"/>
            <a:ext cx="7422050" cy="675185"/>
          </a:xfrm>
          <a:prstGeom prst="roundRect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463" b="1" dirty="0">
                <a:solidFill>
                  <a:srgbClr val="FF0000"/>
                </a:solidFill>
                <a:cs typeface="B Roya" panose="00000400000000000000" pitchFamily="2" charset="-78"/>
              </a:rPr>
              <a:t>واگذاری حریم و خارج از حریم</a:t>
            </a:r>
          </a:p>
          <a:p>
            <a:pPr algn="ct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19500واحد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D10488B-8EC8-A792-3766-AE73BF050E2A}"/>
              </a:ext>
            </a:extLst>
          </p:cNvPr>
          <p:cNvSpPr/>
          <p:nvPr/>
        </p:nvSpPr>
        <p:spPr>
          <a:xfrm>
            <a:off x="8468544" y="3929578"/>
            <a:ext cx="2449389" cy="51458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بارگذاری زمین برای 33 هزار قطعه زمین در </a:t>
            </a:r>
            <a:r>
              <a:rPr lang="fa-IR" sz="1463" b="1" dirty="0">
                <a:solidFill>
                  <a:srgbClr val="FF0000"/>
                </a:solidFill>
                <a:cs typeface="B Roya" panose="00000400000000000000" pitchFamily="2" charset="-78"/>
              </a:rPr>
              <a:t>سامانه سماع و تم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BBF8C5-3564-8992-BA74-DC484E890270}"/>
              </a:ext>
            </a:extLst>
          </p:cNvPr>
          <p:cNvSpPr/>
          <p:nvPr/>
        </p:nvSpPr>
        <p:spPr>
          <a:xfrm>
            <a:off x="972862" y="3929577"/>
            <a:ext cx="7422050" cy="514588"/>
          </a:xfrm>
          <a:prstGeom prst="roundRect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واگذاری حدود 36 هزار قطعه به متقاضیان سرریز شهرها در سامانه تم</a:t>
            </a:r>
            <a:endParaRPr lang="fa-IR" sz="1463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131F4-B4B3-6A21-9B5A-23478A172FBF}"/>
              </a:ext>
            </a:extLst>
          </p:cNvPr>
          <p:cNvSpPr txBox="1"/>
          <p:nvPr/>
        </p:nvSpPr>
        <p:spPr>
          <a:xfrm>
            <a:off x="1264942" y="6127739"/>
            <a:ext cx="9193327" cy="34240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fa-IR" sz="1625" dirty="0">
                <a:cs typeface="B Titr" panose="00000700000000000000" pitchFamily="2" charset="-78"/>
              </a:rPr>
              <a:t>برنامه تأمین زمین برای 132 هزار واحد زمین مسکونی                          شناسایی و تخصیص زمین برای :  </a:t>
            </a:r>
            <a:r>
              <a:rPr lang="fa-IR" sz="1625" dirty="0">
                <a:solidFill>
                  <a:schemeClr val="tx1">
                    <a:lumMod val="95000"/>
                    <a:lumOff val="5000"/>
                  </a:schemeClr>
                </a:solidFill>
                <a:cs typeface="B Titr" panose="00000700000000000000" pitchFamily="2" charset="-78"/>
              </a:rPr>
              <a:t>91 هزار واحد مسکونی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84DBB71-44A2-0141-D0DE-53E7E32C9511}"/>
              </a:ext>
            </a:extLst>
          </p:cNvPr>
          <p:cNvSpPr/>
          <p:nvPr/>
        </p:nvSpPr>
        <p:spPr>
          <a:xfrm>
            <a:off x="5153160" y="1113082"/>
            <a:ext cx="1573199" cy="984663"/>
          </a:xfrm>
          <a:prstGeom prst="roundRect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463" b="1" dirty="0">
                <a:solidFill>
                  <a:srgbClr val="FF0000"/>
                </a:solidFill>
                <a:cs typeface="B Roya" panose="00000400000000000000" pitchFamily="2" charset="-78"/>
              </a:rPr>
              <a:t>صورتجلسه تحویل</a:t>
            </a:r>
          </a:p>
          <a:p>
            <a:pPr algn="ct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27 هزار واحد</a:t>
            </a:r>
            <a:endParaRPr lang="fa-IR" sz="1463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6D4CD8-2DD9-E653-7C30-E3B1FC590452}"/>
              </a:ext>
            </a:extLst>
          </p:cNvPr>
          <p:cNvSpPr/>
          <p:nvPr/>
        </p:nvSpPr>
        <p:spPr>
          <a:xfrm>
            <a:off x="2385685" y="1097549"/>
            <a:ext cx="1290424" cy="967830"/>
          </a:xfrm>
          <a:prstGeom prst="roundRect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463" b="1" dirty="0">
                <a:solidFill>
                  <a:srgbClr val="FF0000"/>
                </a:solidFill>
                <a:cs typeface="B Roya" panose="00000400000000000000" pitchFamily="2" charset="-78"/>
              </a:rPr>
              <a:t>پروانه ساختمانی </a:t>
            </a:r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12500 واحد</a:t>
            </a:r>
            <a:endParaRPr lang="fa-IR" sz="1463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285154C-93E0-FD33-EE55-DC2099627139}"/>
              </a:ext>
            </a:extLst>
          </p:cNvPr>
          <p:cNvSpPr/>
          <p:nvPr/>
        </p:nvSpPr>
        <p:spPr>
          <a:xfrm>
            <a:off x="972863" y="1097549"/>
            <a:ext cx="1290424" cy="967830"/>
          </a:xfrm>
          <a:prstGeom prst="roundRect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463" b="1" dirty="0">
                <a:solidFill>
                  <a:srgbClr val="FF0000"/>
                </a:solidFill>
                <a:cs typeface="B Roya" panose="00000400000000000000" pitchFamily="2" charset="-78"/>
              </a:rPr>
              <a:t>شروع عملیات اجرایی</a:t>
            </a:r>
          </a:p>
          <a:p>
            <a:pPr algn="ct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10500 واحد</a:t>
            </a:r>
            <a:endParaRPr lang="fa-IR" sz="1463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61BFECC-63CB-53F9-FB95-C282761C977C}"/>
              </a:ext>
            </a:extLst>
          </p:cNvPr>
          <p:cNvSpPr/>
          <p:nvPr/>
        </p:nvSpPr>
        <p:spPr>
          <a:xfrm>
            <a:off x="972863" y="2152105"/>
            <a:ext cx="4781245" cy="925063"/>
          </a:xfrm>
          <a:prstGeom prst="roundRect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صورت جلسه </a:t>
            </a:r>
            <a:r>
              <a:rPr lang="fa-IR" sz="1463" b="1" dirty="0">
                <a:solidFill>
                  <a:srgbClr val="FF0000"/>
                </a:solidFill>
                <a:cs typeface="B Roya" panose="00000400000000000000" pitchFamily="2" charset="-78"/>
              </a:rPr>
              <a:t>تحویل  </a:t>
            </a:r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3634 واحد </a:t>
            </a:r>
          </a:p>
          <a:p>
            <a:pPr algn="ctr" rtl="1"/>
            <a:r>
              <a:rPr lang="fa-IR" sz="1400" b="1" dirty="0">
                <a:solidFill>
                  <a:schemeClr val="tx1"/>
                </a:solidFill>
                <a:cs typeface="B Roya" panose="00000400000000000000" pitchFamily="2" charset="-78"/>
              </a:rPr>
              <a:t>(1000 واحد در مرحله تهیه نقشه و معرفی به بانک جهت اخذ تسهیلات)</a:t>
            </a:r>
          </a:p>
          <a:p>
            <a:pPr algn="ctr" rtl="1"/>
            <a:r>
              <a:rPr lang="fa-IR" sz="1600" b="1" dirty="0">
                <a:solidFill>
                  <a:schemeClr val="tx1"/>
                </a:solidFill>
                <a:cs typeface="B Roya" panose="00000400000000000000" pitchFamily="2" charset="-78"/>
              </a:rPr>
              <a:t>آذربایجان شرقی، اصفهان، سمنان، خوزستان، سیستان و بلوچستان، خراسان رضوی، مرکزی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D59AC0-F9E4-D42F-40B6-523669AEAAE0}"/>
              </a:ext>
            </a:extLst>
          </p:cNvPr>
          <p:cNvSpPr/>
          <p:nvPr/>
        </p:nvSpPr>
        <p:spPr>
          <a:xfrm>
            <a:off x="3752485" y="1094557"/>
            <a:ext cx="1290424" cy="988765"/>
          </a:xfrm>
          <a:prstGeom prst="roundRect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300" b="1" dirty="0">
                <a:solidFill>
                  <a:srgbClr val="FF0000"/>
                </a:solidFill>
                <a:cs typeface="B Roya" panose="00000400000000000000" pitchFamily="2" charset="-78"/>
              </a:rPr>
              <a:t>قرارداد‌واگذاری</a:t>
            </a:r>
          </a:p>
          <a:p>
            <a:pPr algn="ct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21 هزار واحد</a:t>
            </a:r>
            <a:endParaRPr lang="fa-IR" sz="1463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36D81A4-09D0-2A72-E5EB-12ECDB1C0AE1}"/>
              </a:ext>
            </a:extLst>
          </p:cNvPr>
          <p:cNvSpPr/>
          <p:nvPr/>
        </p:nvSpPr>
        <p:spPr>
          <a:xfrm>
            <a:off x="8468544" y="4515631"/>
            <a:ext cx="2449389" cy="32508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اراضی هبه‌ شده از سوی خیرین</a:t>
            </a:r>
            <a:endParaRPr lang="fa-IR" sz="1463" b="1" dirty="0">
              <a:solidFill>
                <a:srgbClr val="FF0000"/>
              </a:solidFill>
              <a:cs typeface="B Roya" panose="00000400000000000000" pitchFamily="2" charset="-78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BF658F2-0CD8-AF4D-3789-20E00CCA31E9}"/>
              </a:ext>
            </a:extLst>
          </p:cNvPr>
          <p:cNvSpPr/>
          <p:nvPr/>
        </p:nvSpPr>
        <p:spPr>
          <a:xfrm>
            <a:off x="972862" y="4515631"/>
            <a:ext cx="7422050" cy="325089"/>
          </a:xfrm>
          <a:prstGeom prst="roundRect">
            <a:avLst/>
          </a:prstGeom>
          <a:ln w="254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r" rtl="1"/>
            <a:r>
              <a:rPr lang="fa-IR" sz="1463" b="1" dirty="0">
                <a:solidFill>
                  <a:schemeClr val="tx1"/>
                </a:solidFill>
                <a:cs typeface="B Roya" panose="00000400000000000000" pitchFamily="2" charset="-78"/>
              </a:rPr>
              <a:t>هبه زمین برای احداث حدود 4 هزار واحد مسکونی در سال 1405</a:t>
            </a:r>
            <a:endParaRPr lang="fa-IR" sz="1463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4E51789-121A-96E6-8188-BE51C0ABFF16}"/>
              </a:ext>
            </a:extLst>
          </p:cNvPr>
          <p:cNvSpPr/>
          <p:nvPr/>
        </p:nvSpPr>
        <p:spPr>
          <a:xfrm>
            <a:off x="914829" y="4907941"/>
            <a:ext cx="10003104" cy="92841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b="1" dirty="0">
                <a:solidFill>
                  <a:schemeClr val="tx1"/>
                </a:solidFill>
                <a:cs typeface="B Roya" panose="00000400000000000000" pitchFamily="2" charset="-78"/>
              </a:rPr>
              <a:t>اراضی در اختیار </a:t>
            </a:r>
            <a:r>
              <a:rPr lang="fa-IR" b="1" dirty="0">
                <a:solidFill>
                  <a:srgbClr val="FF0000"/>
                </a:solidFill>
                <a:cs typeface="B Roya" panose="00000400000000000000" pitchFamily="2" charset="-78"/>
              </a:rPr>
              <a:t>شهرداری‌ها</a:t>
            </a:r>
            <a:r>
              <a:rPr lang="fa-IR" b="1" dirty="0">
                <a:solidFill>
                  <a:schemeClr val="tx1"/>
                </a:solidFill>
                <a:cs typeface="B Roya" panose="00000400000000000000" pitchFamily="2" charset="-78"/>
              </a:rPr>
              <a:t> </a:t>
            </a:r>
            <a:r>
              <a:rPr lang="fa-IR" sz="1400" b="1" dirty="0">
                <a:solidFill>
                  <a:schemeClr val="tx1"/>
                </a:solidFill>
                <a:cs typeface="B Roya" panose="00000400000000000000" pitchFamily="2" charset="-78"/>
              </a:rPr>
              <a:t>(براساس وظیفه شهرداری ها در تأمین مسکن ماده 55 قانون شهرداری‌ها</a:t>
            </a:r>
            <a:r>
              <a:rPr lang="fa-IR" b="1" dirty="0">
                <a:solidFill>
                  <a:schemeClr val="tx1"/>
                </a:solidFill>
                <a:cs typeface="B Roya" panose="00000400000000000000" pitchFamily="2" charset="-78"/>
              </a:rPr>
              <a:t>)/ اراضی متعلق به </a:t>
            </a:r>
            <a:r>
              <a:rPr lang="fa-IR" b="1" dirty="0">
                <a:solidFill>
                  <a:srgbClr val="FF0000"/>
                </a:solidFill>
                <a:cs typeface="B Roya" panose="00000400000000000000" pitchFamily="2" charset="-78"/>
              </a:rPr>
              <a:t>کارخانجات و صنایع بزرگ</a:t>
            </a:r>
            <a:r>
              <a:rPr lang="fa-IR" b="1" dirty="0">
                <a:solidFill>
                  <a:schemeClr val="tx1"/>
                </a:solidFill>
                <a:cs typeface="B Roya" panose="00000400000000000000" pitchFamily="2" charset="-78"/>
              </a:rPr>
              <a:t>/ اراضی </a:t>
            </a:r>
            <a:r>
              <a:rPr lang="fa-IR" b="1" dirty="0">
                <a:solidFill>
                  <a:srgbClr val="FF0000"/>
                </a:solidFill>
                <a:cs typeface="B Roya" panose="00000400000000000000" pitchFamily="2" charset="-78"/>
              </a:rPr>
              <a:t>نهادهای حمایتی </a:t>
            </a:r>
            <a:r>
              <a:rPr lang="fa-IR" sz="1400" b="1" dirty="0">
                <a:solidFill>
                  <a:schemeClr val="tx1"/>
                </a:solidFill>
                <a:cs typeface="B Roya" panose="00000400000000000000" pitchFamily="2" charset="-78"/>
              </a:rPr>
              <a:t>(کمیته امداد، بهزیستی، بنیاد مستضعفان و ستاد اجرایی فرمان امام)</a:t>
            </a:r>
            <a:r>
              <a:rPr lang="fa-IR" b="1" dirty="0">
                <a:solidFill>
                  <a:schemeClr val="tx1"/>
                </a:solidFill>
                <a:cs typeface="B Roya" panose="00000400000000000000" pitchFamily="2" charset="-78"/>
              </a:rPr>
              <a:t>/ </a:t>
            </a:r>
            <a:r>
              <a:rPr lang="fa-IR" b="1" dirty="0">
                <a:solidFill>
                  <a:srgbClr val="FF0000"/>
                </a:solidFill>
                <a:cs typeface="B Roya" panose="00000400000000000000" pitchFamily="2" charset="-78"/>
              </a:rPr>
              <a:t>اراضی منابع ملی </a:t>
            </a:r>
            <a:r>
              <a:rPr lang="fa-IR" b="1" dirty="0">
                <a:solidFill>
                  <a:schemeClr val="tx1"/>
                </a:solidFill>
                <a:cs typeface="B Roya" panose="00000400000000000000" pitchFamily="2" charset="-78"/>
              </a:rPr>
              <a:t>که توسط شورای مسکن استان‌ها شناسایی و تخصیص می‌یابد.</a:t>
            </a:r>
            <a:endParaRPr lang="fa-IR" b="1" dirty="0">
              <a:solidFill>
                <a:srgbClr val="FF0000"/>
              </a:solidFill>
              <a:cs typeface="B Roya" panose="00000400000000000000" pitchFamily="2" charset="-78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3024" y="213402"/>
            <a:ext cx="11574953" cy="6117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cs typeface="B Titr" panose="00000700000000000000" pitchFamily="2" charset="-78"/>
              </a:rPr>
              <a:t>عملکرد  تأمین و واگذاری زمین </a:t>
            </a:r>
            <a:r>
              <a:rPr lang="fa-IR" sz="2400" dirty="0">
                <a:solidFill>
                  <a:srgbClr val="FF0000"/>
                </a:solidFill>
                <a:cs typeface="B Titr" panose="00000700000000000000" pitchFamily="2" charset="-78"/>
              </a:rPr>
              <a:t>رایگان</a:t>
            </a:r>
            <a:r>
              <a:rPr lang="fa-IR" sz="2400" dirty="0">
                <a:cs typeface="B Titr" panose="00000700000000000000" pitchFamily="2" charset="-78"/>
              </a:rPr>
              <a:t> در  طرح خانه امید</a:t>
            </a:r>
          </a:p>
        </p:txBody>
      </p:sp>
    </p:spTree>
    <p:extLst>
      <p:ext uri="{BB962C8B-B14F-4D97-AF65-F5344CB8AC3E}">
        <p14:creationId xmlns:p14="http://schemas.microsoft.com/office/powerpoint/2010/main" val="3302973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23024" y="213402"/>
            <a:ext cx="11574953" cy="6117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fa-IR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برنامه تأمین منابع مالی در طرح خانه امید– سال 1405  </a:t>
            </a:r>
            <a:r>
              <a:rPr lang="fa-IR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  </a:t>
            </a:r>
            <a:r>
              <a:rPr lang="fa-IR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(احداث 155 هزار واحد روستایی – 65 هزار واحد شهری )</a:t>
            </a:r>
            <a:endParaRPr lang="fa-IR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798233"/>
              </p:ext>
            </p:extLst>
          </p:nvPr>
        </p:nvGraphicFramePr>
        <p:xfrm>
          <a:off x="223025" y="1193186"/>
          <a:ext cx="11574952" cy="4793322"/>
        </p:xfrm>
        <a:graphic>
          <a:graphicData uri="http://schemas.openxmlformats.org/drawingml/2006/table">
            <a:tbl>
              <a:tblPr rtl="1"/>
              <a:tblGrid>
                <a:gridCol w="1753492">
                  <a:extLst>
                    <a:ext uri="{9D8B030D-6E8A-4147-A177-3AD203B41FA5}">
                      <a16:colId xmlns:a16="http://schemas.microsoft.com/office/drawing/2014/main" val="2713010008"/>
                    </a:ext>
                  </a:extLst>
                </a:gridCol>
                <a:gridCol w="1366579">
                  <a:extLst>
                    <a:ext uri="{9D8B030D-6E8A-4147-A177-3AD203B41FA5}">
                      <a16:colId xmlns:a16="http://schemas.microsoft.com/office/drawing/2014/main" val="422593689"/>
                    </a:ext>
                  </a:extLst>
                </a:gridCol>
                <a:gridCol w="5595927">
                  <a:extLst>
                    <a:ext uri="{9D8B030D-6E8A-4147-A177-3AD203B41FA5}">
                      <a16:colId xmlns:a16="http://schemas.microsoft.com/office/drawing/2014/main" val="3839766831"/>
                    </a:ext>
                  </a:extLst>
                </a:gridCol>
                <a:gridCol w="1463785">
                  <a:extLst>
                    <a:ext uri="{9D8B030D-6E8A-4147-A177-3AD203B41FA5}">
                      <a16:colId xmlns:a16="http://schemas.microsoft.com/office/drawing/2014/main" val="3407599016"/>
                    </a:ext>
                  </a:extLst>
                </a:gridCol>
                <a:gridCol w="1395169">
                  <a:extLst>
                    <a:ext uri="{9D8B030D-6E8A-4147-A177-3AD203B41FA5}">
                      <a16:colId xmlns:a16="http://schemas.microsoft.com/office/drawing/2014/main" val="1887470919"/>
                    </a:ext>
                  </a:extLst>
                </a:gridCol>
              </a:tblGrid>
              <a:tr h="368717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لیست منابع مالی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 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FFFFFF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جزئیات منابع مالی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FFFFFF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مبلغ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FFFFFF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واحد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85734"/>
                  </a:ext>
                </a:extLst>
              </a:tr>
              <a:tr h="368717"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تسهیلات 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تسهیلات ساخت قرض الحسنه 20 ساله 500 میلیون تومانی   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89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8984853"/>
                  </a:ext>
                </a:extLst>
              </a:tr>
              <a:tr h="368717"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تسهیلات قرض الحسنه مهر ایران / رسالت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تسهیلات قرض الحسنه مهر ایران / رسالت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170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میلیارد تومان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215705"/>
                  </a:ext>
                </a:extLst>
              </a:tr>
              <a:tr h="286780">
                <a:tc rowSpan="6" gridSpan="2">
                  <a:txBody>
                    <a:bodyPr/>
                    <a:lstStyle/>
                    <a:p>
                      <a:pPr algn="ctr" rtl="1" fontAlgn="ctr"/>
                      <a:r>
                        <a:rPr lang="fa-I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منابع از محل حساب 100 حضرت امام بنیاد مسکن </a:t>
                      </a:r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/>
                      </a:r>
                      <a:b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/>
                      </a:r>
                      <a:b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71 همت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منابع از محل حساب 100 حضرت امام بنیاد مسکن 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4.5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1401907"/>
                  </a:ext>
                </a:extLst>
              </a:tr>
              <a:tr h="2867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کمک خیرین (نقدی - غیر نقدی)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526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میلیارد تومان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503710"/>
                  </a:ext>
                </a:extLst>
              </a:tr>
              <a:tr h="2867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کمک مسئولیت های اجتماعی(نقدی - غیر نقدی) / بند خ ماده 20 برنامه هفتم توسعه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103188"/>
                  </a:ext>
                </a:extLst>
              </a:tr>
              <a:tr h="2867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واگذاری </a:t>
                      </a:r>
                      <a:r>
                        <a:rPr lang="fa-I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اراضی</a:t>
                      </a:r>
                      <a:endParaRPr lang="fa-IR" sz="1100" b="1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38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3603"/>
                  </a:ext>
                </a:extLst>
              </a:tr>
              <a:tr h="2867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هزینه آماده سازی (بستر سازی)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20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188173"/>
                  </a:ext>
                </a:extLst>
              </a:tr>
              <a:tr h="2867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تخفیفات خدمات نظام مهندسی (طراحی و نظارت) و هزینه صدور پروانه 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6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695710"/>
                  </a:ext>
                </a:extLst>
              </a:tr>
              <a:tr h="368717"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نهادهای حمایتی (کمیته امداد و بهزیستی)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نهادهای حمایتی (کمیته امداد و بهزیستی)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4.5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65510"/>
                  </a:ext>
                </a:extLst>
              </a:tr>
              <a:tr h="286780">
                <a:tc rowSpan="3" grid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اعتبارات دولتی</a:t>
                      </a:r>
                    </a:p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/>
                      </a:r>
                      <a:b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4 همت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اعتبارات دولتی – ملی 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</a:t>
                      </a:r>
                      <a:r>
                        <a:rPr lang="fa-IR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.75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312163"/>
                  </a:ext>
                </a:extLst>
              </a:tr>
              <a:tr h="2867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اعتبارات دولتی – استانی (اعتبارات در اختیار نمایندگان ) توازن 1، توازن 2 و 3% اعتبارات نفت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864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میلیارد تومان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629872"/>
                  </a:ext>
                </a:extLst>
              </a:tr>
              <a:tr h="28678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نیم درصد سهم سود بانک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50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میلیارد تومان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5558176"/>
                  </a:ext>
                </a:extLst>
              </a:tr>
              <a:tr h="368717"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آورده متقاضی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آورده </a:t>
                      </a:r>
                      <a:r>
                        <a:rPr lang="fa-I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متقاضی وو</a:t>
                      </a:r>
                      <a:r>
                        <a:rPr lang="fa-IR" sz="11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 کمک خیرین به کارفرمایان</a:t>
                      </a:r>
                      <a:endParaRPr lang="fa-IR" sz="1100" b="1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69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915829"/>
                  </a:ext>
                </a:extLst>
              </a:tr>
              <a:tr h="368717"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fa-IR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مجموع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 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238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3941" marR="3941" marT="39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9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5227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0296" y="179938"/>
            <a:ext cx="11374243" cy="6117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fa-IR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عملکرد منابع مالی در طرح خانه امید– سال 1405  </a:t>
            </a:r>
            <a:r>
              <a:rPr lang="fa-IR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  </a:t>
            </a:r>
            <a:r>
              <a:rPr lang="fa-IR" sz="1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(احداث 155 هزار واحد روستایی – 65 هزار واحد شهری )</a:t>
            </a:r>
            <a:endParaRPr lang="fa-IR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742552"/>
              </p:ext>
            </p:extLst>
          </p:nvPr>
        </p:nvGraphicFramePr>
        <p:xfrm>
          <a:off x="390295" y="914394"/>
          <a:ext cx="11374243" cy="5419499"/>
        </p:xfrm>
        <a:graphic>
          <a:graphicData uri="http://schemas.openxmlformats.org/drawingml/2006/table">
            <a:tbl>
              <a:tblPr rtl="1"/>
              <a:tblGrid>
                <a:gridCol w="1723087">
                  <a:extLst>
                    <a:ext uri="{9D8B030D-6E8A-4147-A177-3AD203B41FA5}">
                      <a16:colId xmlns:a16="http://schemas.microsoft.com/office/drawing/2014/main" val="3667567095"/>
                    </a:ext>
                  </a:extLst>
                </a:gridCol>
                <a:gridCol w="1342884">
                  <a:extLst>
                    <a:ext uri="{9D8B030D-6E8A-4147-A177-3AD203B41FA5}">
                      <a16:colId xmlns:a16="http://schemas.microsoft.com/office/drawing/2014/main" val="1367809374"/>
                    </a:ext>
                  </a:extLst>
                </a:gridCol>
                <a:gridCol w="5498893">
                  <a:extLst>
                    <a:ext uri="{9D8B030D-6E8A-4147-A177-3AD203B41FA5}">
                      <a16:colId xmlns:a16="http://schemas.microsoft.com/office/drawing/2014/main" val="2910366057"/>
                    </a:ext>
                  </a:extLst>
                </a:gridCol>
                <a:gridCol w="1438401">
                  <a:extLst>
                    <a:ext uri="{9D8B030D-6E8A-4147-A177-3AD203B41FA5}">
                      <a16:colId xmlns:a16="http://schemas.microsoft.com/office/drawing/2014/main" val="2622047035"/>
                    </a:ext>
                  </a:extLst>
                </a:gridCol>
                <a:gridCol w="1370978">
                  <a:extLst>
                    <a:ext uri="{9D8B030D-6E8A-4147-A177-3AD203B41FA5}">
                      <a16:colId xmlns:a16="http://schemas.microsoft.com/office/drawing/2014/main" val="670325350"/>
                    </a:ext>
                  </a:extLst>
                </a:gridCol>
              </a:tblGrid>
              <a:tr h="368800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 dirty="0">
                          <a:solidFill>
                            <a:srgbClr val="FFFFFF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لیست منابع مالی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 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FFFFFF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جزئیات منابع مالی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FFFFFF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مبلغ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FFFFFF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واحد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9200849"/>
                  </a:ext>
                </a:extLst>
              </a:tr>
              <a:tr h="450063"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تسهیلات 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تسهیلات ساخت قرض الحسنه 20 ساله 500 میلیون تومانی   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14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212735"/>
                  </a:ext>
                </a:extLst>
              </a:tr>
              <a:tr h="450063"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تسهیلات قرض الحسنه مهر ایران / رسالت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تسهیلات قرض الحسنه مهر ایران / رسالت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15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میلیارد تومان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632534"/>
                  </a:ext>
                </a:extLst>
              </a:tr>
              <a:tr h="350048">
                <a:tc rowSpan="6" grid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منابع از محل حساب 100 حضرت امام بنیاد مسکن</a:t>
                      </a:r>
                      <a:b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/>
                      </a:r>
                      <a:b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23 همت </a:t>
                      </a:r>
                      <a:endParaRPr lang="fa-IR" sz="1400" b="1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منابع از محل حساب 100 حضرت امام بنیاد مسکن 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2.2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484286"/>
                  </a:ext>
                </a:extLst>
              </a:tr>
              <a:tr h="35004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کمک خیرین (نقدی - غیر نقدی)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359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میلیارد تومان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7509765"/>
                  </a:ext>
                </a:extLst>
              </a:tr>
              <a:tr h="35004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کمک مسئولیت های اجتماعی(نقدی - غیر نقدی) / بند خ ماده 20 برنامه هفتم توسعه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200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میلیارد تومان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586449"/>
                  </a:ext>
                </a:extLst>
              </a:tr>
              <a:tr h="35004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واگذاری </a:t>
                      </a:r>
                      <a:r>
                        <a:rPr lang="fa-I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اراضی</a:t>
                      </a:r>
                      <a:endParaRPr lang="fa-IR" sz="1100" b="1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10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963428"/>
                  </a:ext>
                </a:extLst>
              </a:tr>
              <a:tr h="35004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هزینه آماده سازی (بستر سازی)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8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296502"/>
                  </a:ext>
                </a:extLst>
              </a:tr>
              <a:tr h="35004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تخفیفات خدمات نظام مهندسی (طراحی و نظارت) و هزینه صدور پروانه 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436560"/>
                  </a:ext>
                </a:extLst>
              </a:tr>
              <a:tr h="450063"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نهادهای حمایتی (کمیته امداد و بهزیستی)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نهادهای حمایتی (کمیته امداد و بهزیستی)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487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میلیارد تومان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34008"/>
                  </a:ext>
                </a:extLst>
              </a:tr>
              <a:tr h="350048">
                <a:tc rowSpan="2" grid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اعتبارات دولتی</a:t>
                      </a:r>
                    </a:p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/>
                      </a:r>
                      <a:b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 همت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اعتبارات </a:t>
                      </a:r>
                      <a:r>
                        <a:rPr lang="fa-I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دولتی</a:t>
                      </a:r>
                      <a:endParaRPr lang="fa-IR" sz="1100" b="1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1.75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063105"/>
                  </a:ext>
                </a:extLst>
              </a:tr>
              <a:tr h="350048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نیم درصد سهم سود بانک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3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میلیارد تومان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319868"/>
                  </a:ext>
                </a:extLst>
              </a:tr>
              <a:tr h="450063"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آورده متقاضی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آورده متقاضی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29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1672755"/>
                  </a:ext>
                </a:extLst>
              </a:tr>
              <a:tr h="450063"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fa-I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مجموع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 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68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همت</a:t>
                      </a:r>
                    </a:p>
                  </a:txBody>
                  <a:tcPr marL="4204" marR="4204" marT="420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160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6077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02902-CBA4-71CB-516A-52A8C0CE6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80577E-189B-7267-411E-979B29036D79}"/>
              </a:ext>
            </a:extLst>
          </p:cNvPr>
          <p:cNvSpPr/>
          <p:nvPr/>
        </p:nvSpPr>
        <p:spPr>
          <a:xfrm>
            <a:off x="6042692" y="5487051"/>
            <a:ext cx="5438563" cy="598995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برنامه تا مهر 1405</a:t>
            </a:r>
          </a:p>
          <a:p>
            <a:pPr algn="ctr" rtl="1"/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120000 واحد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353679" y="5487051"/>
            <a:ext cx="5578764" cy="59899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عملکرد تا مهر 1405</a:t>
            </a:r>
          </a:p>
          <a:p>
            <a:pPr algn="ctr" rtl="1"/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87 درصد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024" y="120804"/>
            <a:ext cx="11574953" cy="6117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cs typeface="B Titr" panose="00000700000000000000" pitchFamily="2" charset="-78"/>
              </a:rPr>
              <a:t>تعداد واحد در دست اجرای طرح خانه امید در سال 1405</a:t>
            </a:r>
          </a:p>
        </p:txBody>
      </p:sp>
      <p:sp>
        <p:nvSpPr>
          <p:cNvPr id="10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7339470" y="4445072"/>
            <a:ext cx="1972440" cy="51253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105307 </a:t>
            </a:r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واحد</a:t>
            </a:r>
          </a:p>
        </p:txBody>
      </p:sp>
      <p:sp>
        <p:nvSpPr>
          <p:cNvPr id="12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2846367" y="2612927"/>
            <a:ext cx="2035003" cy="51253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42129 </a:t>
            </a:r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واحد</a:t>
            </a:r>
          </a:p>
        </p:txBody>
      </p:sp>
      <p:sp>
        <p:nvSpPr>
          <p:cNvPr id="13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566189" y="4445072"/>
            <a:ext cx="2010381" cy="51253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32063 </a:t>
            </a:r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واحد</a:t>
            </a:r>
          </a:p>
        </p:txBody>
      </p:sp>
      <p:sp>
        <p:nvSpPr>
          <p:cNvPr id="11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7339466" y="2612927"/>
            <a:ext cx="1972440" cy="51253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75501 واحد </a:t>
            </a:r>
            <a:endParaRPr lang="fa-IR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14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7339466" y="3532850"/>
            <a:ext cx="1972440" cy="51253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29806 واحد</a:t>
            </a:r>
            <a:endParaRPr lang="fa-IR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16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5116508" y="3532850"/>
            <a:ext cx="1852369" cy="51253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28402 </a:t>
            </a:r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واحد</a:t>
            </a:r>
          </a:p>
        </p:txBody>
      </p:sp>
      <p:sp>
        <p:nvSpPr>
          <p:cNvPr id="17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5116509" y="4445072"/>
            <a:ext cx="1852369" cy="51253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99877 </a:t>
            </a:r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واحد</a:t>
            </a:r>
          </a:p>
        </p:txBody>
      </p:sp>
      <p:sp>
        <p:nvSpPr>
          <p:cNvPr id="18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5116510" y="2612927"/>
            <a:ext cx="1852369" cy="51253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71475 </a:t>
            </a:r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واحد</a:t>
            </a:r>
          </a:p>
        </p:txBody>
      </p:sp>
      <p:sp>
        <p:nvSpPr>
          <p:cNvPr id="19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537784" y="3532850"/>
            <a:ext cx="2010381" cy="51253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9975 </a:t>
            </a:r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واحد</a:t>
            </a:r>
          </a:p>
        </p:txBody>
      </p:sp>
      <p:sp>
        <p:nvSpPr>
          <p:cNvPr id="20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566189" y="2612927"/>
            <a:ext cx="2010381" cy="51253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22088 </a:t>
            </a:r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واحد</a:t>
            </a:r>
          </a:p>
        </p:txBody>
      </p:sp>
      <p:sp>
        <p:nvSpPr>
          <p:cNvPr id="21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2846365" y="3532850"/>
            <a:ext cx="2035003" cy="51253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17824 </a:t>
            </a:r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واحد</a:t>
            </a:r>
          </a:p>
        </p:txBody>
      </p:sp>
      <p:sp>
        <p:nvSpPr>
          <p:cNvPr id="22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2846366" y="4445072"/>
            <a:ext cx="2035003" cy="51253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59953 </a:t>
            </a:r>
            <a:r>
              <a:rPr lang="fa-IR" dirty="0">
                <a:solidFill>
                  <a:schemeClr val="tx1"/>
                </a:solidFill>
                <a:cs typeface="B Titr" panose="00000700000000000000" pitchFamily="2" charset="-78"/>
              </a:rPr>
              <a:t>واحد</a:t>
            </a:r>
          </a:p>
        </p:txBody>
      </p:sp>
      <p:sp>
        <p:nvSpPr>
          <p:cNvPr id="23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5116507" y="1853015"/>
            <a:ext cx="1852369" cy="51253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sz="1600" dirty="0">
                <a:solidFill>
                  <a:schemeClr val="tx1"/>
                </a:solidFill>
                <a:cs typeface="B Titr" panose="00000700000000000000" pitchFamily="2" charset="-78"/>
              </a:rPr>
              <a:t>تعداد واحد </a:t>
            </a:r>
            <a:r>
              <a:rPr lang="fa-IR" sz="1600" dirty="0" smtClean="0">
                <a:solidFill>
                  <a:schemeClr val="tx1"/>
                </a:solidFill>
                <a:cs typeface="B Titr" panose="00000700000000000000" pitchFamily="2" charset="-78"/>
              </a:rPr>
              <a:t>در مرحله پی کنی</a:t>
            </a:r>
            <a:endParaRPr lang="fa-IR" sz="1600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24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2846364" y="1853015"/>
            <a:ext cx="2035003" cy="51253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sz="1600" dirty="0">
                <a:solidFill>
                  <a:schemeClr val="tx1"/>
                </a:solidFill>
                <a:cs typeface="B Titr" panose="00000700000000000000" pitchFamily="2" charset="-78"/>
              </a:rPr>
              <a:t>تعداد واحد اجرای </a:t>
            </a:r>
            <a:r>
              <a:rPr lang="fa-IR" sz="1600" dirty="0" smtClean="0">
                <a:solidFill>
                  <a:schemeClr val="tx1"/>
                </a:solidFill>
                <a:cs typeface="B Titr" panose="00000700000000000000" pitchFamily="2" charset="-78"/>
              </a:rPr>
              <a:t>فونداسیون</a:t>
            </a:r>
            <a:endParaRPr lang="fa-IR" sz="1600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25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566189" y="1853015"/>
            <a:ext cx="2010381" cy="51253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sz="1600" dirty="0">
                <a:solidFill>
                  <a:schemeClr val="tx1"/>
                </a:solidFill>
                <a:cs typeface="B Titr" panose="00000700000000000000" pitchFamily="2" charset="-78"/>
              </a:rPr>
              <a:t>تعداد واحد در مرحله </a:t>
            </a:r>
            <a:r>
              <a:rPr lang="fa-IR" sz="1600" dirty="0" smtClean="0">
                <a:solidFill>
                  <a:schemeClr val="tx1"/>
                </a:solidFill>
                <a:cs typeface="B Titr" panose="00000700000000000000" pitchFamily="2" charset="-78"/>
              </a:rPr>
              <a:t>سفتکاری</a:t>
            </a:r>
            <a:endParaRPr lang="fa-IR" sz="1600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29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7339466" y="1853015"/>
            <a:ext cx="1972440" cy="51253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sz="1600" dirty="0" smtClean="0">
                <a:solidFill>
                  <a:schemeClr val="tx1"/>
                </a:solidFill>
                <a:cs typeface="B Titr" panose="00000700000000000000" pitchFamily="2" charset="-78"/>
              </a:rPr>
              <a:t>تعداد واحد در دست اجرا</a:t>
            </a:r>
            <a:endParaRPr lang="fa-IR" sz="1600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26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9508819" y="4445072"/>
            <a:ext cx="1972440" cy="51253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مجموع</a:t>
            </a:r>
            <a:endParaRPr lang="fa-IR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27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9508815" y="2612927"/>
            <a:ext cx="1972440" cy="51253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روستایی </a:t>
            </a:r>
            <a:endParaRPr lang="fa-IR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28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9508815" y="3532850"/>
            <a:ext cx="1972440" cy="51253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dirty="0" smtClean="0">
                <a:solidFill>
                  <a:schemeClr val="tx1"/>
                </a:solidFill>
                <a:cs typeface="B Titr" panose="00000700000000000000" pitchFamily="2" charset="-78"/>
              </a:rPr>
              <a:t>شهری</a:t>
            </a:r>
            <a:endParaRPr lang="fa-IR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30" name="Rectangle: Rounded Corners 4">
            <a:extLst>
              <a:ext uri="{FF2B5EF4-FFF2-40B4-BE49-F238E27FC236}">
                <a16:creationId xmlns:a16="http://schemas.microsoft.com/office/drawing/2014/main" id="{1845F003-85A8-072A-DE54-D5FA13875F7E}"/>
              </a:ext>
            </a:extLst>
          </p:cNvPr>
          <p:cNvSpPr/>
          <p:nvPr/>
        </p:nvSpPr>
        <p:spPr>
          <a:xfrm>
            <a:off x="9508815" y="1853015"/>
            <a:ext cx="1972440" cy="512532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fa-IR" sz="1600" dirty="0" smtClean="0">
                <a:solidFill>
                  <a:schemeClr val="tx1"/>
                </a:solidFill>
                <a:cs typeface="B Titr" panose="00000700000000000000" pitchFamily="2" charset="-78"/>
              </a:rPr>
              <a:t>نوع</a:t>
            </a:r>
            <a:endParaRPr lang="fa-IR" sz="1600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71209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3024" y="120804"/>
            <a:ext cx="11574953" cy="6117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>
              <a:lnSpc>
                <a:spcPct val="150000"/>
              </a:lnSpc>
            </a:pPr>
            <a:r>
              <a:rPr lang="fa-IR" sz="2400" dirty="0">
                <a:cs typeface="B Titr" panose="00000700000000000000" pitchFamily="2" charset="-78"/>
              </a:rPr>
              <a:t>واحدهای شروع شده بر اساس نوع ساخت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47442" y="6287032"/>
            <a:ext cx="10023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* نوع ساخت فردی مجموع فردی </a:t>
            </a:r>
            <a:r>
              <a:rPr lang="fa-I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74 % و </a:t>
            </a:r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گروه ساخت </a:t>
            </a:r>
            <a:r>
              <a:rPr lang="fa-I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8% می باشد. 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5869799"/>
              </p:ext>
            </p:extLst>
          </p:nvPr>
        </p:nvGraphicFramePr>
        <p:xfrm>
          <a:off x="298318" y="900426"/>
          <a:ext cx="11499659" cy="52187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1100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0C3B9-212D-77A3-60D2-7EDEDD33C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3086D2E-EE9C-1CE9-FEDC-55502324D156}"/>
              </a:ext>
            </a:extLst>
          </p:cNvPr>
          <p:cNvGrpSpPr/>
          <p:nvPr/>
        </p:nvGrpSpPr>
        <p:grpSpPr>
          <a:xfrm>
            <a:off x="1624102" y="201011"/>
            <a:ext cx="10252821" cy="738664"/>
            <a:chOff x="1554039" y="200573"/>
            <a:chExt cx="10252821" cy="73866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CC401B4-3908-9910-72BE-29E1BCF1E79A}"/>
                </a:ext>
              </a:extLst>
            </p:cNvPr>
            <p:cNvSpPr txBox="1"/>
            <p:nvPr/>
          </p:nvSpPr>
          <p:spPr>
            <a:xfrm>
              <a:off x="1554039" y="200573"/>
              <a:ext cx="10241667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1">
                <a:lnSpc>
                  <a:spcPct val="200000"/>
                </a:lnSpc>
              </a:pPr>
              <a:r>
                <a:rPr lang="fa-IR" sz="2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B Titr" panose="00000700000000000000" pitchFamily="2" charset="-78"/>
                </a:rPr>
                <a:t>تفاهم با نهادهای حمایتی به منظور هم‌افزایی در تأمین 52 هزار واحد مسکونی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EA88AF-65DF-6010-7608-7857586E6D46}"/>
                </a:ext>
              </a:extLst>
            </p:cNvPr>
            <p:cNvCxnSpPr/>
            <p:nvPr/>
          </p:nvCxnSpPr>
          <p:spPr>
            <a:xfrm flipH="1">
              <a:off x="11795709" y="252567"/>
              <a:ext cx="11151" cy="639531"/>
            </a:xfrm>
            <a:prstGeom prst="line">
              <a:avLst/>
            </a:prstGeom>
            <a:ln w="889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80FAD9E-66D0-C0A5-FAAE-C2EDE4CE4BBE}"/>
              </a:ext>
            </a:extLst>
          </p:cNvPr>
          <p:cNvSpPr txBox="1"/>
          <p:nvPr/>
        </p:nvSpPr>
        <p:spPr>
          <a:xfrm>
            <a:off x="787400" y="1038460"/>
            <a:ext cx="1108952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Low" rtl="1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fa-IR" sz="2400" b="1" kern="100" dirty="0">
                <a:cs typeface="B Roya" panose="00000400000000000000" pitchFamily="2" charset="-78"/>
              </a:rPr>
              <a:t>ارائه گزارش </a:t>
            </a:r>
            <a:r>
              <a:rPr lang="fa-IR" sz="2400" b="1" kern="100" dirty="0">
                <a:solidFill>
                  <a:srgbClr val="FF0000"/>
                </a:solidFill>
                <a:cs typeface="B Roya" panose="00000400000000000000" pitchFamily="2" charset="-78"/>
              </a:rPr>
              <a:t>عملکرد</a:t>
            </a:r>
            <a:r>
              <a:rPr lang="fa-IR" sz="2400" b="1" kern="100" dirty="0">
                <a:cs typeface="B Roya" panose="00000400000000000000" pitchFamily="2" charset="-78"/>
              </a:rPr>
              <a:t> به همراه </a:t>
            </a:r>
            <a:r>
              <a:rPr lang="fa-IR" sz="2400" b="1" kern="100" dirty="0">
                <a:solidFill>
                  <a:srgbClr val="FF0000"/>
                </a:solidFill>
                <a:cs typeface="B Roya" panose="00000400000000000000" pitchFamily="2" charset="-78"/>
              </a:rPr>
              <a:t>مانده مطالبات</a:t>
            </a:r>
            <a:r>
              <a:rPr lang="fa-IR" sz="2400" b="1" kern="100" dirty="0">
                <a:cs typeface="B Roya" panose="00000400000000000000" pitchFamily="2" charset="-78"/>
              </a:rPr>
              <a:t> از محل تفاهم‌نامه‌ها با کمیته امداد و سازمان بهزیستی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4DA0524-C081-8393-82C5-5CDA47AD32E5}"/>
              </a:ext>
            </a:extLst>
          </p:cNvPr>
          <p:cNvSpPr/>
          <p:nvPr/>
        </p:nvSpPr>
        <p:spPr>
          <a:xfrm>
            <a:off x="8731409" y="2476784"/>
            <a:ext cx="2900191" cy="141713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463" dirty="0">
                <a:cs typeface="B Titr" panose="00000700000000000000" pitchFamily="2" charset="-78"/>
              </a:rPr>
              <a:t>تفاهم نامه های مشترک </a:t>
            </a:r>
            <a:r>
              <a:rPr lang="ar-SA" sz="1463" dirty="0">
                <a:cs typeface="B Titr" panose="00000700000000000000" pitchFamily="2" charset="-78"/>
              </a:rPr>
              <a:t>کمیته امداد امام خمینی (</a:t>
            </a:r>
            <a:r>
              <a:rPr lang="fa-IR" sz="1463" dirty="0">
                <a:cs typeface="B Titr" panose="00000700000000000000" pitchFamily="2" charset="-78"/>
              </a:rPr>
              <a:t>ره</a:t>
            </a:r>
            <a:r>
              <a:rPr lang="ar-SA" sz="1463" dirty="0">
                <a:cs typeface="B Titr" panose="00000700000000000000" pitchFamily="2" charset="-78"/>
              </a:rPr>
              <a:t>) </a:t>
            </a:r>
            <a:r>
              <a:rPr lang="fa-IR" sz="1463" dirty="0">
                <a:cs typeface="B Titr" panose="00000700000000000000" pitchFamily="2" charset="-78"/>
              </a:rPr>
              <a:t>و </a:t>
            </a:r>
            <a:r>
              <a:rPr lang="ar-SA" sz="1463" dirty="0">
                <a:cs typeface="B Titr" panose="00000700000000000000" pitchFamily="2" charset="-78"/>
              </a:rPr>
              <a:t>بنیاد مسکن انقلاب اسلامی</a:t>
            </a:r>
            <a:endParaRPr lang="fa-IR" sz="1463" dirty="0">
              <a:solidFill>
                <a:schemeClr val="tx1">
                  <a:lumMod val="65000"/>
                  <a:lumOff val="35000"/>
                </a:schemeClr>
              </a:solidFill>
              <a:cs typeface="B Titr" panose="00000700000000000000" pitchFamily="2" charset="-78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D9ADD98-3AB5-AB18-7CBA-2E1ECB22F600}"/>
              </a:ext>
            </a:extLst>
          </p:cNvPr>
          <p:cNvSpPr/>
          <p:nvPr/>
        </p:nvSpPr>
        <p:spPr>
          <a:xfrm>
            <a:off x="4055156" y="2466852"/>
            <a:ext cx="4507384" cy="4216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r" rtl="1"/>
            <a:r>
              <a:rPr lang="fa-IR" sz="1463" dirty="0">
                <a:solidFill>
                  <a:schemeClr val="tx1"/>
                </a:solidFill>
                <a:cs typeface="B Titr" panose="00000700000000000000" pitchFamily="2" charset="-78"/>
              </a:rPr>
              <a:t>تامین 8 هزار واحد مسکن روستایی</a:t>
            </a:r>
            <a:endParaRPr lang="fa-IR" sz="1463" dirty="0">
              <a:solidFill>
                <a:schemeClr val="tx1">
                  <a:lumMod val="65000"/>
                  <a:lumOff val="35000"/>
                </a:schemeClr>
              </a:solidFill>
              <a:cs typeface="B Titr" panose="00000700000000000000" pitchFamily="2" charset="-78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B5FAE9-B0B7-FA99-ABE0-0F78D4411FE8}"/>
              </a:ext>
            </a:extLst>
          </p:cNvPr>
          <p:cNvSpPr/>
          <p:nvPr/>
        </p:nvSpPr>
        <p:spPr>
          <a:xfrm>
            <a:off x="4055156" y="2964578"/>
            <a:ext cx="4507384" cy="4216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r" rtl="1"/>
            <a:r>
              <a:rPr lang="fa-IR" sz="1463" dirty="0">
                <a:solidFill>
                  <a:schemeClr val="tx1"/>
                </a:solidFill>
                <a:cs typeface="B Titr" panose="00000700000000000000" pitchFamily="2" charset="-78"/>
              </a:rPr>
              <a:t>تامین 30 هزار واحد مسکن شهری</a:t>
            </a:r>
            <a:endParaRPr lang="fa-IR" sz="1463" dirty="0">
              <a:solidFill>
                <a:schemeClr val="tx1">
                  <a:lumMod val="65000"/>
                  <a:lumOff val="35000"/>
                </a:schemeClr>
              </a:solidFill>
              <a:cs typeface="B Titr" panose="00000700000000000000" pitchFamily="2" charset="-78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F7FD77-557F-B6A8-7DC8-FBD3D5B29E6F}"/>
              </a:ext>
            </a:extLst>
          </p:cNvPr>
          <p:cNvSpPr/>
          <p:nvPr/>
        </p:nvSpPr>
        <p:spPr>
          <a:xfrm>
            <a:off x="4055159" y="3462302"/>
            <a:ext cx="4507383" cy="421687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r" rtl="1"/>
            <a:r>
              <a:rPr lang="fa-IR" sz="1463" dirty="0">
                <a:solidFill>
                  <a:schemeClr val="tx1"/>
                </a:solidFill>
                <a:cs typeface="B Titr" panose="00000700000000000000" pitchFamily="2" charset="-78"/>
              </a:rPr>
              <a:t>تامین 6 هزار واحد مسکن شهری بنیاد ساخت</a:t>
            </a:r>
            <a:endParaRPr lang="fa-IR" sz="1463" dirty="0">
              <a:solidFill>
                <a:schemeClr val="tx1">
                  <a:lumMod val="65000"/>
                  <a:lumOff val="35000"/>
                </a:schemeClr>
              </a:solidFill>
              <a:cs typeface="B Titr" panose="00000700000000000000" pitchFamily="2" charset="-78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E8946C2-5D2D-19AB-8701-B453174A7517}"/>
              </a:ext>
            </a:extLst>
          </p:cNvPr>
          <p:cNvSpPr/>
          <p:nvPr/>
        </p:nvSpPr>
        <p:spPr>
          <a:xfrm>
            <a:off x="8731408" y="4152003"/>
            <a:ext cx="2900191" cy="121572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1463" dirty="0">
                <a:solidFill>
                  <a:schemeClr val="tx1"/>
                </a:solidFill>
                <a:cs typeface="B Titr" panose="00000700000000000000" pitchFamily="2" charset="-78"/>
              </a:rPr>
              <a:t>تفاهم نامه های مشترک سازمان بهزیستی و </a:t>
            </a:r>
            <a:r>
              <a:rPr lang="ar-SA" sz="1463" dirty="0">
                <a:solidFill>
                  <a:schemeClr val="tx1"/>
                </a:solidFill>
                <a:cs typeface="B Titr" panose="00000700000000000000" pitchFamily="2" charset="-78"/>
              </a:rPr>
              <a:t>بنیاد مسکن انقلاب اسلامی</a:t>
            </a:r>
            <a:endParaRPr lang="fa-IR" sz="1463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EB389CB-9566-1BF7-8F33-D34444566984}"/>
              </a:ext>
            </a:extLst>
          </p:cNvPr>
          <p:cNvSpPr/>
          <p:nvPr/>
        </p:nvSpPr>
        <p:spPr>
          <a:xfrm>
            <a:off x="6378756" y="4169254"/>
            <a:ext cx="2169995" cy="121572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463" dirty="0">
                <a:solidFill>
                  <a:schemeClr val="tx1"/>
                </a:solidFill>
                <a:cs typeface="B Titr" panose="00000700000000000000" pitchFamily="2" charset="-78"/>
              </a:rPr>
              <a:t>تکمیل و احداث 4100 واحد مسکن شهری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4A06664-017C-2C4E-7F5A-2C2F03AA0141}"/>
              </a:ext>
            </a:extLst>
          </p:cNvPr>
          <p:cNvSpPr/>
          <p:nvPr/>
        </p:nvSpPr>
        <p:spPr>
          <a:xfrm>
            <a:off x="4055155" y="4169254"/>
            <a:ext cx="2222352" cy="1215727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fa-IR" sz="1463" dirty="0">
                <a:solidFill>
                  <a:schemeClr val="tx1"/>
                </a:solidFill>
                <a:cs typeface="B Titr" panose="00000700000000000000" pitchFamily="2" charset="-78"/>
              </a:rPr>
              <a:t>تکمیل و احداث 3900 واحد مسکن روستایی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E46C1D-709B-992B-FAC7-EB28ECD37FAE}"/>
              </a:ext>
            </a:extLst>
          </p:cNvPr>
          <p:cNvSpPr txBox="1"/>
          <p:nvPr/>
        </p:nvSpPr>
        <p:spPr>
          <a:xfrm>
            <a:off x="6759782" y="5076462"/>
            <a:ext cx="1465445" cy="2674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200" b="1">
                <a:solidFill>
                  <a:schemeClr val="bg2">
                    <a:lumMod val="50000"/>
                  </a:schemeClr>
                </a:solidFill>
                <a:cs typeface="B Nazanin" panose="00000400000000000000" pitchFamily="2" charset="-78"/>
              </a:defRPr>
            </a:lvl1pPr>
          </a:lstStyle>
          <a:p>
            <a:r>
              <a:rPr lang="fa-IR" sz="1138" dirty="0">
                <a:solidFill>
                  <a:schemeClr val="tx1"/>
                </a:solidFill>
              </a:rPr>
              <a:t>تا سقف 400 میلیون تومان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2F9942-D1F1-B89D-B9B9-87E930FEBC28}"/>
              </a:ext>
            </a:extLst>
          </p:cNvPr>
          <p:cNvSpPr txBox="1"/>
          <p:nvPr/>
        </p:nvSpPr>
        <p:spPr>
          <a:xfrm>
            <a:off x="4435576" y="5085634"/>
            <a:ext cx="1495706" cy="2674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2">
                    <a:lumMod val="50000"/>
                  </a:schemeClr>
                </a:solidFill>
                <a:cs typeface="B Nazanin" panose="00000400000000000000" pitchFamily="2" charset="-78"/>
              </a:defRPr>
            </a:lvl1pPr>
          </a:lstStyle>
          <a:p>
            <a:pPr algn="ctr"/>
            <a:r>
              <a:rPr lang="fa-IR" sz="1138" dirty="0">
                <a:solidFill>
                  <a:schemeClr val="tx1"/>
                </a:solidFill>
              </a:rPr>
              <a:t>تا سقف 400 میلیون تومان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DB56B1-A83D-243E-B084-BF63DF2CFCC6}"/>
              </a:ext>
            </a:extLst>
          </p:cNvPr>
          <p:cNvSpPr txBox="1"/>
          <p:nvPr/>
        </p:nvSpPr>
        <p:spPr>
          <a:xfrm>
            <a:off x="4133156" y="2569956"/>
            <a:ext cx="1514612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a-IR" sz="1138" b="1" dirty="0">
                <a:cs typeface="B Nazanin" panose="00000400000000000000" pitchFamily="2" charset="-78"/>
              </a:rPr>
              <a:t>تا سقف </a:t>
            </a:r>
            <a:r>
              <a:rPr lang="fa-IR" sz="1200" b="1" dirty="0">
                <a:cs typeface="B Nazanin" panose="00000400000000000000" pitchFamily="2" charset="-78"/>
              </a:rPr>
              <a:t>300</a:t>
            </a:r>
            <a:r>
              <a:rPr lang="fa-IR" sz="1138" b="1" dirty="0">
                <a:cs typeface="B Nazanin" panose="00000400000000000000" pitchFamily="2" charset="-78"/>
              </a:rPr>
              <a:t> میلیون تومان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91A8242-AA13-9843-4A4A-16D85C4344D2}"/>
              </a:ext>
            </a:extLst>
          </p:cNvPr>
          <p:cNvSpPr txBox="1"/>
          <p:nvPr/>
        </p:nvSpPr>
        <p:spPr>
          <a:xfrm>
            <a:off x="4137658" y="3063486"/>
            <a:ext cx="1514612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 b="1">
                <a:cs typeface="B Nazanin" panose="00000400000000000000" pitchFamily="2" charset="-78"/>
              </a:defRPr>
            </a:lvl1pPr>
          </a:lstStyle>
          <a:p>
            <a:r>
              <a:rPr lang="fa-IR" sz="1138" dirty="0"/>
              <a:t>تا سقف </a:t>
            </a:r>
            <a:r>
              <a:rPr lang="fa-IR" sz="1200" dirty="0"/>
              <a:t>300</a:t>
            </a:r>
            <a:r>
              <a:rPr lang="fa-IR" sz="1138" dirty="0"/>
              <a:t> میلیون تومان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B3CB87-A291-2FFD-F97B-941B1FE19C10}"/>
              </a:ext>
            </a:extLst>
          </p:cNvPr>
          <p:cNvSpPr txBox="1"/>
          <p:nvPr/>
        </p:nvSpPr>
        <p:spPr>
          <a:xfrm>
            <a:off x="4133839" y="3549896"/>
            <a:ext cx="1437293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2">
                    <a:lumMod val="50000"/>
                  </a:schemeClr>
                </a:solidFill>
                <a:cs typeface="B Nazanin" panose="00000400000000000000" pitchFamily="2" charset="-78"/>
              </a:defRPr>
            </a:lvl1pPr>
          </a:lstStyle>
          <a:p>
            <a:pPr algn="ctr"/>
            <a:r>
              <a:rPr lang="fa-IR" sz="1138" dirty="0">
                <a:solidFill>
                  <a:schemeClr val="tx1"/>
                </a:solidFill>
              </a:rPr>
              <a:t>مبلغ </a:t>
            </a:r>
            <a:r>
              <a:rPr lang="fa-IR" dirty="0">
                <a:solidFill>
                  <a:schemeClr val="tx1"/>
                </a:solidFill>
              </a:rPr>
              <a:t>400</a:t>
            </a:r>
            <a:r>
              <a:rPr lang="fa-IR" sz="1138" dirty="0">
                <a:solidFill>
                  <a:schemeClr val="tx1"/>
                </a:solidFill>
              </a:rPr>
              <a:t> میلیون تومان</a:t>
            </a:r>
          </a:p>
        </p:txBody>
      </p:sp>
      <p:sp>
        <p:nvSpPr>
          <p:cNvPr id="23" name="Rectangle: Rounded Corners 4">
            <a:extLst>
              <a:ext uri="{FF2B5EF4-FFF2-40B4-BE49-F238E27FC236}">
                <a16:creationId xmlns:a16="http://schemas.microsoft.com/office/drawing/2014/main" id="{24DA0524-C081-8393-82C5-5CDA47AD32E5}"/>
              </a:ext>
            </a:extLst>
          </p:cNvPr>
          <p:cNvSpPr/>
          <p:nvPr/>
        </p:nvSpPr>
        <p:spPr>
          <a:xfrm>
            <a:off x="908504" y="2476784"/>
            <a:ext cx="2900191" cy="41175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463" dirty="0">
                <a:cs typeface="B Titr" panose="00000700000000000000" pitchFamily="2" charset="-78"/>
              </a:rPr>
              <a:t>2/4 همت</a:t>
            </a:r>
            <a:endParaRPr lang="fa-IR" sz="1463" dirty="0">
              <a:solidFill>
                <a:schemeClr val="tx1">
                  <a:lumMod val="65000"/>
                  <a:lumOff val="35000"/>
                </a:schemeClr>
              </a:solidFill>
              <a:cs typeface="B Titr" panose="00000700000000000000" pitchFamily="2" charset="-78"/>
            </a:endParaRPr>
          </a:p>
        </p:txBody>
      </p:sp>
      <p:sp>
        <p:nvSpPr>
          <p:cNvPr id="25" name="Rectangle: Rounded Corners 4">
            <a:extLst>
              <a:ext uri="{FF2B5EF4-FFF2-40B4-BE49-F238E27FC236}">
                <a16:creationId xmlns:a16="http://schemas.microsoft.com/office/drawing/2014/main" id="{24DA0524-C081-8393-82C5-5CDA47AD32E5}"/>
              </a:ext>
            </a:extLst>
          </p:cNvPr>
          <p:cNvSpPr/>
          <p:nvPr/>
        </p:nvSpPr>
        <p:spPr>
          <a:xfrm>
            <a:off x="908503" y="2993505"/>
            <a:ext cx="2900191" cy="38161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463" dirty="0">
                <a:cs typeface="B Titr" panose="00000700000000000000" pitchFamily="2" charset="-78"/>
              </a:rPr>
              <a:t>9 همت</a:t>
            </a:r>
            <a:endParaRPr lang="fa-IR" sz="1463" dirty="0">
              <a:solidFill>
                <a:schemeClr val="tx1">
                  <a:lumMod val="65000"/>
                  <a:lumOff val="35000"/>
                </a:schemeClr>
              </a:solidFill>
              <a:cs typeface="B Titr" panose="00000700000000000000" pitchFamily="2" charset="-78"/>
            </a:endParaRPr>
          </a:p>
        </p:txBody>
      </p:sp>
      <p:sp>
        <p:nvSpPr>
          <p:cNvPr id="27" name="Rectangle: Rounded Corners 4">
            <a:extLst>
              <a:ext uri="{FF2B5EF4-FFF2-40B4-BE49-F238E27FC236}">
                <a16:creationId xmlns:a16="http://schemas.microsoft.com/office/drawing/2014/main" id="{24DA0524-C081-8393-82C5-5CDA47AD32E5}"/>
              </a:ext>
            </a:extLst>
          </p:cNvPr>
          <p:cNvSpPr/>
          <p:nvPr/>
        </p:nvSpPr>
        <p:spPr>
          <a:xfrm>
            <a:off x="908502" y="3454334"/>
            <a:ext cx="2900191" cy="38161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463" dirty="0">
                <a:cs typeface="B Titr" panose="00000700000000000000" pitchFamily="2" charset="-78"/>
              </a:rPr>
              <a:t>2/4 همت</a:t>
            </a:r>
            <a:endParaRPr lang="fa-IR" sz="1463" dirty="0">
              <a:solidFill>
                <a:schemeClr val="tx1">
                  <a:lumMod val="65000"/>
                  <a:lumOff val="35000"/>
                </a:schemeClr>
              </a:solidFill>
              <a:cs typeface="B Titr" panose="00000700000000000000" pitchFamily="2" charset="-78"/>
            </a:endParaRPr>
          </a:p>
        </p:txBody>
      </p:sp>
      <p:sp>
        <p:nvSpPr>
          <p:cNvPr id="29" name="Rectangle: Rounded Corners 15">
            <a:extLst>
              <a:ext uri="{FF2B5EF4-FFF2-40B4-BE49-F238E27FC236}">
                <a16:creationId xmlns:a16="http://schemas.microsoft.com/office/drawing/2014/main" id="{1E8946C2-5D2D-19AB-8701-B453174A7517}"/>
              </a:ext>
            </a:extLst>
          </p:cNvPr>
          <p:cNvSpPr/>
          <p:nvPr/>
        </p:nvSpPr>
        <p:spPr>
          <a:xfrm>
            <a:off x="908501" y="4169255"/>
            <a:ext cx="2900191" cy="1215726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fa-IR" sz="1463" dirty="0">
                <a:solidFill>
                  <a:schemeClr val="tx1"/>
                </a:solidFill>
                <a:cs typeface="B Titr" panose="00000700000000000000" pitchFamily="2" charset="-78"/>
              </a:rPr>
              <a:t>3/2 همت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1A8822F3-C084-79D5-6F73-C728A57F1BDE}"/>
              </a:ext>
            </a:extLst>
          </p:cNvPr>
          <p:cNvSpPr/>
          <p:nvPr/>
        </p:nvSpPr>
        <p:spPr>
          <a:xfrm>
            <a:off x="943521" y="5527963"/>
            <a:ext cx="2900191" cy="64980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fa-IR" sz="1463" dirty="0">
                <a:solidFill>
                  <a:schemeClr val="tx1"/>
                </a:solidFill>
                <a:cs typeface="B Titr" panose="00000700000000000000" pitchFamily="2" charset="-78"/>
              </a:rPr>
              <a:t>مجموع :  17 همت</a:t>
            </a:r>
          </a:p>
        </p:txBody>
      </p:sp>
    </p:spTree>
    <p:extLst>
      <p:ext uri="{BB962C8B-B14F-4D97-AF65-F5344CB8AC3E}">
        <p14:creationId xmlns:p14="http://schemas.microsoft.com/office/powerpoint/2010/main" val="755299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BF331B-7753-CFC3-3401-846CBA6B9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118313"/>
              </p:ext>
            </p:extLst>
          </p:nvPr>
        </p:nvGraphicFramePr>
        <p:xfrm>
          <a:off x="1102318" y="2134059"/>
          <a:ext cx="9719734" cy="4427181"/>
        </p:xfrm>
        <a:graphic>
          <a:graphicData uri="http://schemas.openxmlformats.org/drawingml/2006/table">
            <a:tbl>
              <a:tblPr rtl="1">
                <a:tableStyleId>{5940675A-B579-460E-94D1-54222C63F5DA}</a:tableStyleId>
              </a:tblPr>
              <a:tblGrid>
                <a:gridCol w="3380778">
                  <a:extLst>
                    <a:ext uri="{9D8B030D-6E8A-4147-A177-3AD203B41FA5}">
                      <a16:colId xmlns:a16="http://schemas.microsoft.com/office/drawing/2014/main" val="3948432273"/>
                    </a:ext>
                  </a:extLst>
                </a:gridCol>
                <a:gridCol w="2024018">
                  <a:extLst>
                    <a:ext uri="{9D8B030D-6E8A-4147-A177-3AD203B41FA5}">
                      <a16:colId xmlns:a16="http://schemas.microsoft.com/office/drawing/2014/main" val="1957685889"/>
                    </a:ext>
                  </a:extLst>
                </a:gridCol>
                <a:gridCol w="1586593">
                  <a:extLst>
                    <a:ext uri="{9D8B030D-6E8A-4147-A177-3AD203B41FA5}">
                      <a16:colId xmlns:a16="http://schemas.microsoft.com/office/drawing/2014/main" val="517856896"/>
                    </a:ext>
                  </a:extLst>
                </a:gridCol>
                <a:gridCol w="1586593">
                  <a:extLst>
                    <a:ext uri="{9D8B030D-6E8A-4147-A177-3AD203B41FA5}">
                      <a16:colId xmlns:a16="http://schemas.microsoft.com/office/drawing/2014/main" val="3244370621"/>
                    </a:ext>
                  </a:extLst>
                </a:gridCol>
                <a:gridCol w="1141752">
                  <a:extLst>
                    <a:ext uri="{9D8B030D-6E8A-4147-A177-3AD203B41FA5}">
                      <a16:colId xmlns:a16="http://schemas.microsoft.com/office/drawing/2014/main" val="3463157928"/>
                    </a:ext>
                  </a:extLst>
                </a:gridCol>
              </a:tblGrid>
              <a:tr h="309636">
                <a:tc gridSpan="5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600" u="none" strike="noStrike" dirty="0">
                          <a:effectLst/>
                          <a:cs typeface="B Titr" panose="00000700000000000000" pitchFamily="2" charset="-78"/>
                        </a:rPr>
                        <a:t>وضعیت قراردادهای منعقده فیمابین بنیاد مسکن و شرکت های تابعه </a:t>
                      </a:r>
                      <a:endParaRPr lang="fa-IR" sz="16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119543"/>
                  </a:ext>
                </a:extLst>
              </a:tr>
              <a:tr h="487677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استان 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نام پروژه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شرکت</a:t>
                      </a:r>
                      <a:b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</a:b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طرف قرارداد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سهم شرکت</a:t>
                      </a:r>
                      <a:b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</a:br>
                      <a:r>
                        <a:rPr lang="fa-IR" sz="1100" u="none" strike="noStrike" dirty="0">
                          <a:effectLst/>
                          <a:cs typeface="B Titr" panose="00000700000000000000" pitchFamily="2" charset="-78"/>
                        </a:rPr>
                        <a:t> (میلیون ریال)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تعداد واحد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959287"/>
                  </a:ext>
                </a:extLst>
              </a:tr>
              <a:tr h="264397">
                <a:tc gridSpan="3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مجموع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800" u="none" strike="noStrike" dirty="0">
                          <a:solidFill>
                            <a:srgbClr val="FF0000"/>
                          </a:solidFill>
                          <a:effectLst/>
                          <a:cs typeface="B Titr" panose="00000700000000000000" pitchFamily="2" charset="-78"/>
                        </a:rPr>
                        <a:t>4,045,157</a:t>
                      </a:r>
                      <a:endParaRPr lang="fa-IR" sz="1400" b="0" i="0" u="none" strike="noStrike" dirty="0">
                        <a:solidFill>
                          <a:srgbClr val="FF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4,263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038518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قم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120 واحدی آفرینش 1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تجهیز محیط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393,659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120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2314832616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قم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140 واحدی زیتون 11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تجهیز محیط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456,300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140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3886712787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البرز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97 واحدی نظرآباد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سامان محیط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718,198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97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1655455954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فارس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92 واحدی شیراز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توسعه مسکن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270,000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92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3230525318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کرمانشاه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64 واحدی ماهیدشت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توسعه مسکن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52,000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64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4261507710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اصفهان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 rowSpan="7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پروژه های خانه امید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 rowSpan="7"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سیمان شهرکرد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1,500,000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700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2454229856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چهارمحال و بختیاری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650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4226444873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خوزستان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900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2205689979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فارس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500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3428049819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کهگیلویه و بویراحمد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250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2931511681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لرستان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>
                          <a:effectLst/>
                          <a:cs typeface="B Titr" panose="00000700000000000000" pitchFamily="2" charset="-78"/>
                        </a:rPr>
                        <a:t>200</a:t>
                      </a:r>
                      <a:endParaRPr lang="fa-IR" sz="1400" b="0" i="0" u="none" strike="noStrike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1325206494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مرکزی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rtl="1"/>
                      <a:endParaRPr lang="fa-I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550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703303268"/>
                  </a:ext>
                </a:extLst>
              </a:tr>
              <a:tr h="257515"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همدان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140واحدی شورین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1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سامان محیط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1,060,000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a-IR" sz="1400" u="none" strike="noStrike" dirty="0">
                          <a:effectLst/>
                          <a:cs typeface="B Titr" panose="00000700000000000000" pitchFamily="2" charset="-78"/>
                        </a:rPr>
                        <a:t>140</a:t>
                      </a:r>
                      <a:endParaRPr lang="fa-IR" sz="1400" b="0" i="0" u="none" strike="noStrike" dirty="0">
                        <a:solidFill>
                          <a:srgbClr val="000000"/>
                        </a:solidFill>
                        <a:effectLst/>
                        <a:latin typeface="B Titr" panose="00000700000000000000" pitchFamily="2" charset="-78"/>
                        <a:cs typeface="B Titr" panose="00000700000000000000" pitchFamily="2" charset="-78"/>
                      </a:endParaRPr>
                    </a:p>
                  </a:txBody>
                  <a:tcPr marL="7853" marR="7853" marT="7853" marB="0" anchor="ctr"/>
                </a:tc>
                <a:extLst>
                  <a:ext uri="{0D108BD9-81ED-4DB2-BD59-A6C34878D82A}">
                    <a16:rowId xmlns:a16="http://schemas.microsoft.com/office/drawing/2014/main" val="279255608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102318" y="1031949"/>
            <a:ext cx="97197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dirty="0">
                <a:cs typeface="B Titr" panose="00000700000000000000" pitchFamily="2" charset="-78"/>
              </a:rPr>
              <a:t>از محل سهم بدهی شرکت‌های تابعه به حساب 100 حضرت امام (ره) مبلغ </a:t>
            </a:r>
            <a:r>
              <a:rPr lang="fa-IR" dirty="0">
                <a:solidFill>
                  <a:srgbClr val="FF0000"/>
                </a:solidFill>
                <a:cs typeface="B Titr" panose="00000700000000000000" pitchFamily="2" charset="-78"/>
              </a:rPr>
              <a:t>1069 میلیارد تومان در بودجه سال 1405 طرح خانه امید </a:t>
            </a:r>
            <a:r>
              <a:rPr lang="fa-IR" dirty="0">
                <a:cs typeface="B Titr" panose="00000700000000000000" pitchFamily="2" charset="-78"/>
              </a:rPr>
              <a:t>منظور شده است که تاکنون </a:t>
            </a:r>
            <a:r>
              <a:rPr lang="fa-IR" dirty="0">
                <a:solidFill>
                  <a:srgbClr val="FF0000"/>
                </a:solidFill>
                <a:cs typeface="B Titr" panose="00000700000000000000" pitchFamily="2" charset="-78"/>
              </a:rPr>
              <a:t>404 میلیارد تومان (38 درصد) </a:t>
            </a:r>
            <a:r>
              <a:rPr lang="fa-IR" dirty="0">
                <a:cs typeface="B Titr" panose="00000700000000000000" pitchFamily="2" charset="-78"/>
              </a:rPr>
              <a:t>تخصیص و بین استان ها توزیع شده است. </a:t>
            </a:r>
            <a:endParaRPr lang="en-US" dirty="0">
              <a:cs typeface="B Titr" panose="00000700000000000000" pitchFamily="2" charset="-78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098219B-89B0-870D-0EFC-B65A4BCDA588}"/>
              </a:ext>
            </a:extLst>
          </p:cNvPr>
          <p:cNvGrpSpPr/>
          <p:nvPr/>
        </p:nvGrpSpPr>
        <p:grpSpPr>
          <a:xfrm>
            <a:off x="1624105" y="253005"/>
            <a:ext cx="10252818" cy="639531"/>
            <a:chOff x="1554042" y="252567"/>
            <a:chExt cx="10252818" cy="63953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2B76C13-A1A8-5694-6435-5677940E348E}"/>
                </a:ext>
              </a:extLst>
            </p:cNvPr>
            <p:cNvSpPr txBox="1"/>
            <p:nvPr/>
          </p:nvSpPr>
          <p:spPr>
            <a:xfrm>
              <a:off x="1554042" y="252567"/>
              <a:ext cx="10241667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32172" indent="-232172" algn="just" rtl="1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fa-IR" sz="2400" dirty="0">
                  <a:cs typeface="B Titr" panose="00000700000000000000" pitchFamily="2" charset="-78"/>
                </a:rPr>
                <a:t> استفاده از ظرفیت شرکت ها ی تابعه بنیاد مسکن در طرح خانه امید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491CDFB-67BF-F6B2-1B1F-DA45C1AAC81E}"/>
                </a:ext>
              </a:extLst>
            </p:cNvPr>
            <p:cNvCxnSpPr/>
            <p:nvPr/>
          </p:nvCxnSpPr>
          <p:spPr>
            <a:xfrm flipH="1">
              <a:off x="11795709" y="252567"/>
              <a:ext cx="11151" cy="639531"/>
            </a:xfrm>
            <a:prstGeom prst="line">
              <a:avLst/>
            </a:prstGeom>
            <a:ln w="889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95337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80890-A554-3C9C-EF3A-F7C97B44C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098219B-89B0-870D-0EFC-B65A4BCDA588}"/>
              </a:ext>
            </a:extLst>
          </p:cNvPr>
          <p:cNvGrpSpPr/>
          <p:nvPr/>
        </p:nvGrpSpPr>
        <p:grpSpPr>
          <a:xfrm>
            <a:off x="1624105" y="253005"/>
            <a:ext cx="10252818" cy="639531"/>
            <a:chOff x="1554042" y="252567"/>
            <a:chExt cx="10252818" cy="63953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B76C13-A1A8-5694-6435-5677940E348E}"/>
                </a:ext>
              </a:extLst>
            </p:cNvPr>
            <p:cNvSpPr txBox="1"/>
            <p:nvPr/>
          </p:nvSpPr>
          <p:spPr>
            <a:xfrm>
              <a:off x="1554042" y="252567"/>
              <a:ext cx="10241667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32172" indent="-232172" algn="just" rtl="1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fa-IR" sz="2400" dirty="0">
                  <a:cs typeface="B Titr" panose="00000700000000000000" pitchFamily="2" charset="-78"/>
                </a:rPr>
                <a:t> برنامه مسکن استیجار در سال نخست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491CDFB-67BF-F6B2-1B1F-DA45C1AAC81E}"/>
                </a:ext>
              </a:extLst>
            </p:cNvPr>
            <p:cNvCxnSpPr/>
            <p:nvPr/>
          </p:nvCxnSpPr>
          <p:spPr>
            <a:xfrm flipH="1">
              <a:off x="11795709" y="252567"/>
              <a:ext cx="11151" cy="639531"/>
            </a:xfrm>
            <a:prstGeom prst="line">
              <a:avLst/>
            </a:prstGeom>
            <a:ln w="889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AE05AF2-6CB7-B062-59D3-B6B6A1A10636}"/>
              </a:ext>
            </a:extLst>
          </p:cNvPr>
          <p:cNvSpPr txBox="1"/>
          <p:nvPr/>
        </p:nvSpPr>
        <p:spPr>
          <a:xfrm>
            <a:off x="355094" y="1041306"/>
            <a:ext cx="11521830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Low" rtl="1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fa-IR" sz="2000" b="1" kern="100" dirty="0">
                <a:cs typeface="B Roya" panose="00000400000000000000" pitchFamily="2" charset="-78"/>
              </a:rPr>
              <a:t>تعریف </a:t>
            </a:r>
            <a:r>
              <a:rPr lang="fa-IR" sz="2000" b="1" kern="100" dirty="0">
                <a:solidFill>
                  <a:srgbClr val="FF0000"/>
                </a:solidFill>
                <a:cs typeface="B Roya" panose="00000400000000000000" pitchFamily="2" charset="-78"/>
              </a:rPr>
              <a:t>1500 واحد مسکن استیجار در اصلاح بودجه </a:t>
            </a:r>
            <a:r>
              <a:rPr lang="fa-IR" sz="2000" b="1" kern="100" dirty="0">
                <a:cs typeface="B Roya" panose="00000400000000000000" pitchFamily="2" charset="-78"/>
              </a:rPr>
              <a:t>و استفاده از سایر سرفصل‌های اعتباری مانند خیرین، مسئولیت اجتماعی، شهرداری‌ها و نهادهای حمایتی و غیره، جهت تأمین منابع به منظور احداث و بهره‌برداری از واحدهای تعریف شده؛</a:t>
            </a:r>
          </a:p>
        </p:txBody>
      </p:sp>
      <p:graphicFrame>
        <p:nvGraphicFramePr>
          <p:cNvPr id="23" name="Chart 22">
            <a:extLst>
              <a:ext uri="{FF2B5EF4-FFF2-40B4-BE49-F238E27FC236}">
                <a16:creationId xmlns:a16="http://schemas.microsoft.com/office/drawing/2014/main" id="{3D856443-5966-ED81-61A6-AD1A1521D81C}"/>
              </a:ext>
            </a:extLst>
          </p:cNvPr>
          <p:cNvGraphicFramePr>
            <a:graphicFrameLocks/>
          </p:cNvGraphicFramePr>
          <p:nvPr/>
        </p:nvGraphicFramePr>
        <p:xfrm>
          <a:off x="355093" y="2206634"/>
          <a:ext cx="11481812" cy="4651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95654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12A77-DF23-23CF-04C5-90034927E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102EF75-456C-DD51-2133-276D28AC9760}"/>
              </a:ext>
            </a:extLst>
          </p:cNvPr>
          <p:cNvGrpSpPr/>
          <p:nvPr/>
        </p:nvGrpSpPr>
        <p:grpSpPr>
          <a:xfrm>
            <a:off x="1624105" y="253005"/>
            <a:ext cx="10252818" cy="639531"/>
            <a:chOff x="1554042" y="252567"/>
            <a:chExt cx="10252818" cy="63953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2BCC14C-7F9C-F08F-EDC9-ECFBDB386D19}"/>
                </a:ext>
              </a:extLst>
            </p:cNvPr>
            <p:cNvSpPr txBox="1"/>
            <p:nvPr/>
          </p:nvSpPr>
          <p:spPr>
            <a:xfrm>
              <a:off x="1554042" y="252567"/>
              <a:ext cx="10241667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32172" indent="-232172" algn="just" rtl="1">
                <a:lnSpc>
                  <a:spcPct val="150000"/>
                </a:lnSpc>
                <a:buFont typeface="Wingdings" panose="05000000000000000000" pitchFamily="2" charset="2"/>
                <a:buChar char="q"/>
              </a:pPr>
              <a:r>
                <a:rPr lang="fa-IR" sz="2400" dirty="0">
                  <a:cs typeface="B Titr" panose="00000700000000000000" pitchFamily="2" charset="-78"/>
                </a:rPr>
                <a:t>تفاهم‌نامه تأمین مسکن استیجار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89724A8-97FB-B574-FBAE-46C5A97410D5}"/>
                </a:ext>
              </a:extLst>
            </p:cNvPr>
            <p:cNvCxnSpPr/>
            <p:nvPr/>
          </p:nvCxnSpPr>
          <p:spPr>
            <a:xfrm flipH="1">
              <a:off x="11795709" y="252567"/>
              <a:ext cx="11151" cy="639531"/>
            </a:xfrm>
            <a:prstGeom prst="line">
              <a:avLst/>
            </a:prstGeom>
            <a:ln w="88900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BB5C1B7F-B232-5766-7584-1E7EEE743CF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8" r="10310"/>
          <a:stretch>
            <a:fillRect/>
          </a:stretch>
        </p:blipFill>
        <p:spPr>
          <a:xfrm>
            <a:off x="3835845" y="377190"/>
            <a:ext cx="3599157" cy="62522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CBFB799-1AD6-FF86-EBC4-E98710BEB8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78" r="9315"/>
          <a:stretch>
            <a:fillRect/>
          </a:stretch>
        </p:blipFill>
        <p:spPr>
          <a:xfrm>
            <a:off x="122661" y="377190"/>
            <a:ext cx="3599156" cy="62522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</p:pic>
      <p:sp>
        <p:nvSpPr>
          <p:cNvPr id="2" name="Rounded Rectangle 1"/>
          <p:cNvSpPr/>
          <p:nvPr/>
        </p:nvSpPr>
        <p:spPr>
          <a:xfrm>
            <a:off x="9002985" y="1342504"/>
            <a:ext cx="3067095" cy="5029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تعهدات سازمان ملی زمین و مسکن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2985" y="3120493"/>
            <a:ext cx="3067095" cy="50292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تعهدات بنیاد مسکن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35002" y="1884791"/>
            <a:ext cx="4756997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fa-IR" b="1" dirty="0">
                <a:cs typeface="B Roya" panose="00000400000000000000" pitchFamily="2" charset="-78"/>
              </a:rPr>
              <a:t>تأمین زمین در شهرها؛</a:t>
            </a: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endParaRPr lang="fa-IR" sz="1000" b="1" dirty="0">
              <a:cs typeface="B Roya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fa-IR" b="1" dirty="0">
                <a:cs typeface="B Roya" panose="00000400000000000000" pitchFamily="2" charset="-78"/>
              </a:rPr>
              <a:t>تسهیلات قرض الحسنه </a:t>
            </a:r>
            <a:r>
              <a:rPr lang="fa-IR" b="1" dirty="0">
                <a:solidFill>
                  <a:srgbClr val="FF0000"/>
                </a:solidFill>
                <a:cs typeface="B Roya" panose="00000400000000000000" pitchFamily="2" charset="-78"/>
              </a:rPr>
              <a:t>400 میلون تومانی </a:t>
            </a:r>
            <a:r>
              <a:rPr lang="fa-IR" b="1" dirty="0">
                <a:cs typeface="B Roya" panose="00000400000000000000" pitchFamily="2" charset="-78"/>
              </a:rPr>
              <a:t>برای هر واحد؛</a:t>
            </a: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endParaRPr lang="fa-IR" sz="1000" b="1" dirty="0">
              <a:cs typeface="B Roya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fa-IR" b="1" dirty="0">
                <a:cs typeface="B Roya" panose="00000400000000000000" pitchFamily="2" charset="-78"/>
              </a:rPr>
              <a:t>تأمین هزینه آماده سازی زمین توسط سازمان</a:t>
            </a:r>
            <a:r>
              <a:rPr lang="fa-IR" sz="1600" b="1" dirty="0">
                <a:cs typeface="B Roya" panose="00000400000000000000" pitchFamily="2" charset="-78"/>
              </a:rPr>
              <a:t>؛</a:t>
            </a:r>
            <a:endParaRPr lang="en-US" sz="1600" b="1" dirty="0">
              <a:cs typeface="B Roya" panose="00000400000000000000" pitchFamily="2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2341" y="3686386"/>
            <a:ext cx="487966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fa-IR" b="1" dirty="0">
                <a:cs typeface="B Roya" panose="00000400000000000000" pitchFamily="2" charset="-78"/>
              </a:rPr>
              <a:t>تأمین زمین در روستاها با اولویت روستاهای حریم شهر؛</a:t>
            </a: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endParaRPr lang="fa-IR" sz="1000" b="1" dirty="0">
              <a:cs typeface="B Roya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fa-IR" b="1" dirty="0">
                <a:cs typeface="B Roya" panose="00000400000000000000" pitchFamily="2" charset="-78"/>
              </a:rPr>
              <a:t>کمک بلاعوض </a:t>
            </a:r>
            <a:r>
              <a:rPr lang="fa-IR" b="1" dirty="0">
                <a:solidFill>
                  <a:srgbClr val="FF0000"/>
                </a:solidFill>
                <a:cs typeface="B Roya" panose="00000400000000000000" pitchFamily="2" charset="-78"/>
              </a:rPr>
              <a:t>300 میلون تومانی </a:t>
            </a:r>
            <a:r>
              <a:rPr lang="fa-IR" b="1" dirty="0">
                <a:cs typeface="B Roya" panose="00000400000000000000" pitchFamily="2" charset="-78"/>
              </a:rPr>
              <a:t>برای هر واحد؛</a:t>
            </a: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endParaRPr lang="fa-IR" sz="1000" b="1" dirty="0">
              <a:cs typeface="B Roya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fa-IR" b="1" dirty="0">
                <a:cs typeface="B Roya" panose="00000400000000000000" pitchFamily="2" charset="-78"/>
              </a:rPr>
              <a:t>تأمین هزینه آماده سازی زمین واگذار شده توسط بنیاد؛</a:t>
            </a: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endParaRPr lang="en-US" sz="1000" b="1" dirty="0">
              <a:cs typeface="B Roya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fa-IR" b="1" dirty="0">
                <a:cs typeface="B Roya" panose="00000400000000000000" pitchFamily="2" charset="-78"/>
              </a:rPr>
              <a:t>تهیه طرح، نقشه‌های اجرایی متناسب با زمین؛</a:t>
            </a: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endParaRPr lang="fa-IR" sz="1000" b="1" dirty="0">
              <a:cs typeface="B Roya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fa-IR" b="1" dirty="0">
                <a:cs typeface="B Roya" panose="00000400000000000000" pitchFamily="2" charset="-78"/>
              </a:rPr>
              <a:t>راهبری احداث مسکن استیجار متناسب با نیاز و الگو</a:t>
            </a: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endParaRPr lang="fa-IR" sz="1000" b="1" dirty="0">
              <a:cs typeface="B Roya" panose="00000400000000000000" pitchFamily="2" charset="-78"/>
            </a:endParaRPr>
          </a:p>
          <a:p>
            <a:pPr marL="285750" indent="-285750" algn="r" rtl="1">
              <a:buFont typeface="Wingdings" panose="05000000000000000000" pitchFamily="2" charset="2"/>
              <a:buChar char="§"/>
            </a:pPr>
            <a:r>
              <a:rPr lang="fa-IR" b="1" dirty="0">
                <a:cs typeface="B Roya" panose="00000400000000000000" pitchFamily="2" charset="-78"/>
              </a:rPr>
              <a:t>مدیریت و راهبری اجاره‌داری واحدهای احداثی؛</a:t>
            </a:r>
            <a:endParaRPr lang="en-US" b="1" dirty="0">
              <a:cs typeface="B Roy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44865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46410" y="179938"/>
            <a:ext cx="11374243" cy="6117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r"/>
            <a:r>
              <a:rPr lang="fa-IR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یارانه واحدهای طرح خانه امید در خصوص هزینه زمین، آماده‌سازی زمین، خدمات مهندسی (طراحی و نظارت) و صدور پروانه</a:t>
            </a:r>
            <a:endParaRPr lang="fa-IR" sz="1400" b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anose="00000700000000000000" pitchFamily="2" charset="-78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25717"/>
              </p:ext>
            </p:extLst>
          </p:nvPr>
        </p:nvGraphicFramePr>
        <p:xfrm>
          <a:off x="557560" y="1193180"/>
          <a:ext cx="11363093" cy="5370269"/>
        </p:xfrm>
        <a:graphic>
          <a:graphicData uri="http://schemas.openxmlformats.org/drawingml/2006/table">
            <a:tbl>
              <a:tblPr rtl="1"/>
              <a:tblGrid>
                <a:gridCol w="1214684">
                  <a:extLst>
                    <a:ext uri="{9D8B030D-6E8A-4147-A177-3AD203B41FA5}">
                      <a16:colId xmlns:a16="http://schemas.microsoft.com/office/drawing/2014/main" val="2915036385"/>
                    </a:ext>
                  </a:extLst>
                </a:gridCol>
                <a:gridCol w="3182330">
                  <a:extLst>
                    <a:ext uri="{9D8B030D-6E8A-4147-A177-3AD203B41FA5}">
                      <a16:colId xmlns:a16="http://schemas.microsoft.com/office/drawing/2014/main" val="798643656"/>
                    </a:ext>
                  </a:extLst>
                </a:gridCol>
                <a:gridCol w="700870">
                  <a:extLst>
                    <a:ext uri="{9D8B030D-6E8A-4147-A177-3AD203B41FA5}">
                      <a16:colId xmlns:a16="http://schemas.microsoft.com/office/drawing/2014/main" val="1306020623"/>
                    </a:ext>
                  </a:extLst>
                </a:gridCol>
                <a:gridCol w="700870">
                  <a:extLst>
                    <a:ext uri="{9D8B030D-6E8A-4147-A177-3AD203B41FA5}">
                      <a16:colId xmlns:a16="http://schemas.microsoft.com/office/drawing/2014/main" val="109510350"/>
                    </a:ext>
                  </a:extLst>
                </a:gridCol>
                <a:gridCol w="3175225">
                  <a:extLst>
                    <a:ext uri="{9D8B030D-6E8A-4147-A177-3AD203B41FA5}">
                      <a16:colId xmlns:a16="http://schemas.microsoft.com/office/drawing/2014/main" val="3755961541"/>
                    </a:ext>
                  </a:extLst>
                </a:gridCol>
                <a:gridCol w="700870">
                  <a:extLst>
                    <a:ext uri="{9D8B030D-6E8A-4147-A177-3AD203B41FA5}">
                      <a16:colId xmlns:a16="http://schemas.microsoft.com/office/drawing/2014/main" val="2070504676"/>
                    </a:ext>
                  </a:extLst>
                </a:gridCol>
                <a:gridCol w="700870">
                  <a:extLst>
                    <a:ext uri="{9D8B030D-6E8A-4147-A177-3AD203B41FA5}">
                      <a16:colId xmlns:a16="http://schemas.microsoft.com/office/drawing/2014/main" val="3476375253"/>
                    </a:ext>
                  </a:extLst>
                </a:gridCol>
                <a:gridCol w="987374">
                  <a:extLst>
                    <a:ext uri="{9D8B030D-6E8A-4147-A177-3AD203B41FA5}">
                      <a16:colId xmlns:a16="http://schemas.microsoft.com/office/drawing/2014/main" val="697026138"/>
                    </a:ext>
                  </a:extLst>
                </a:gridCol>
              </a:tblGrid>
              <a:tr h="402024">
                <a:tc row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موضوع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fa-IR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شهری :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65000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1" fontAlgn="ctr"/>
                      <a:r>
                        <a:rPr lang="fa-IR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روستایی: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155000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مجموع</a:t>
                      </a:r>
                      <a:b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 شهری و روستایی</a:t>
                      </a:r>
                      <a:b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(میلیارد تومان)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503968"/>
                  </a:ext>
                </a:extLst>
              </a:tr>
              <a:tr h="9442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جزئیات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مبلغ به ازای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 یک واحد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(میلیون تومان)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مجموع 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(میلیارد تومان)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جزئیات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مبلغ به ازای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 یک واحد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(میلیون تومان)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مجموع 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(میلیارد تومان)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0832490"/>
                  </a:ext>
                </a:extLst>
              </a:tr>
              <a:tr h="776001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قیمت زمین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متوسط سرانه زمین برای هر واحد 50 مترمربع </a:t>
                      </a:r>
                      <a:b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 متوسط قیمت کل زمین برای هر واحد 300 میلیون تومان</a:t>
                      </a:r>
                      <a:b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 واگذاری به صورت رایگان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300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19,500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متوسط سرانه زمین برای هر واحد 150 مترمربع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متوسط قیمت کل زمین برای هر واحد 300 میلیون تومان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واگذاری به صورت رایگان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300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46,500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66,000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144861"/>
                  </a:ext>
                </a:extLst>
              </a:tr>
              <a:tr h="747952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هزینه آماده‌سازی زمین</a:t>
                      </a:r>
                      <a:b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 (بسترسازی)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متوسط هزینه آماده سازی زمین متری 2 میلیون تومان</a:t>
                      </a:r>
                      <a:b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 متوسط کل هزینه آماده‌سازی زمین برای هر واحد  100 میلیون تومان</a:t>
                      </a:r>
                      <a:b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 آماده‌سازی زمین توسط کمک ماشین‌آلات بنیاد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100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6,500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متوسط هزینه آماده سازی زمین متری 600 هزار تومان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 متوسط کل هزینه آماده‌سازی زمین برای واحد 90 میلیون تومان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 آماده‌سازی زمین توسط کمک ماشین‌آلات بنیاد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90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13,950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20,450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776935"/>
                  </a:ext>
                </a:extLst>
              </a:tr>
              <a:tr h="804050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هزینه صدور پروانه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متوسط هزینه صدور پروانه هر مترمربع واحد مسکونی 400 هزار تو مان است. 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 متوسط کل هزینه صدور پروانه برای واحد 60 متری حدود 24 میلیون تومان می‌باشد. 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 به استناد ماده تبصره 2 بند (الف-3)  ماده 39 قانون برنامه هفتم پیشرفت رایگان می‌باشد. 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24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1,560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متوسط هزینه صدور پروانه هر مترمربع واحد مسکونی 150 هزار تو مان است.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 متوسط کل هزینه صدور پروانه برای واحد 60 متری حدود 9 میلیون تومان می‌باشد. 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 به استناد ماده تبصره 2 بند (الف-3)  ماده 39 قانون برنامه هفتم پیشرفت رایگان می‌باشد. 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9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1,395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2,955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4297487"/>
                  </a:ext>
                </a:extLst>
              </a:tr>
              <a:tr h="729254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 هزینه خدمات مهندسی</a:t>
                      </a:r>
                      <a:b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 (طراحی و نظارت)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متوسط هزینه خدمات مهندسی هر مترمربع واحد مسکونی 450 هزار تو مان است.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هزینه طراحی و نظارت با 30 الی 50 درصد تخفیف به طور متوسط حدود  11 میلیون محاسبه و اخذ می‌گردد </a:t>
                      </a:r>
                    </a:p>
                  </a:txBody>
                  <a:tcPr marL="6578" marR="6578" marT="657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16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1,040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متوسط هزینه خدمات مهندسی هر مترمربع واحد مسکونی 200 هزار تو مان است.</a:t>
                      </a:r>
                      <a:b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</a:br>
                      <a:r>
                        <a:rPr lang="fa-IR" sz="1050" b="1" i="0" u="none" strike="noStrike">
                          <a:solidFill>
                            <a:srgbClr val="000000"/>
                          </a:solidFill>
                          <a:effectLst/>
                          <a:latin typeface="B Nazanin" panose="00000400000000000000" pitchFamily="2" charset="-78"/>
                          <a:cs typeface="B Nazanin" panose="00000400000000000000" pitchFamily="2" charset="-78"/>
                        </a:rPr>
                        <a:t> هزینه طراحی و نظارت واحد در روستاها رایگان می‌باشد. 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11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1,705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2,745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365503"/>
                  </a:ext>
                </a:extLst>
              </a:tr>
              <a:tr h="804050">
                <a:tc>
                  <a:txBody>
                    <a:bodyPr/>
                    <a:lstStyle/>
                    <a:p>
                      <a:pPr algn="ctr" rtl="1" fontAlgn="ctr"/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یارانه واحدهای</a:t>
                      </a:r>
                      <a:b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</a:br>
                      <a:r>
                        <a:rPr lang="fa-IR" sz="12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 طرح خانه امید 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fa-IR" sz="1800" b="0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مجموع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440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28,600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ctr"/>
                      <a:r>
                        <a:rPr lang="fa-IR" sz="1800" b="0" i="0" u="none" strike="noStrike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مجموع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410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63,550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B Titr" panose="00000700000000000000" pitchFamily="2" charset="-78"/>
                          <a:cs typeface="B Titr" panose="00000700000000000000" pitchFamily="2" charset="-78"/>
                        </a:rPr>
                        <a:t>92,150</a:t>
                      </a:r>
                    </a:p>
                  </a:txBody>
                  <a:tcPr marL="6578" marR="6578" marT="65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374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7399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1585</Words>
  <Application>Microsoft Office PowerPoint</Application>
  <PresentationFormat>Widescreen</PresentationFormat>
  <Paragraphs>351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B Baran Outline</vt:lpstr>
      <vt:lpstr>B Nazanin</vt:lpstr>
      <vt:lpstr>B Roya</vt:lpstr>
      <vt:lpstr>B Titr</vt:lpstr>
      <vt:lpstr>Calibri</vt:lpstr>
      <vt:lpstr>Calibri Light</vt:lpstr>
      <vt:lpstr>IranNastaliq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Reza Bonakdar</dc:creator>
  <cp:lastModifiedBy>Reza Bonakdar</cp:lastModifiedBy>
  <cp:revision>52</cp:revision>
  <cp:lastPrinted>2026-10-18T11:55:47Z</cp:lastPrinted>
  <dcterms:created xsi:type="dcterms:W3CDTF">2026-10-17T05:47:11Z</dcterms:created>
  <dcterms:modified xsi:type="dcterms:W3CDTF">2026-10-18T11:57:00Z</dcterms:modified>
</cp:coreProperties>
</file>